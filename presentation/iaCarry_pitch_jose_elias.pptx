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embeddedFontLst>
    <p:embeddedFont>
      <p:font typeface="Ubuntu"/>
      <p:regular r:id="rId22"/>
      <p:bold r:id="rId23"/>
      <p:italic r:id="rId24"/>
      <p:boldItalic r:id="rId25"/>
    </p:embeddedFont>
    <p:embeddedFont>
      <p:font typeface="Noto Sans Bengali"/>
      <p:regular r:id="rId26"/>
      <p:bold r:id="rId27"/>
    </p:embeddedFont>
    <p:embeddedFont>
      <p:font typeface="Manrop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qCYgrcFjkkFrD3emHHZXCmh3J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Ubuntu-regular.fntdata"/><Relationship Id="rId21" Type="http://schemas.openxmlformats.org/officeDocument/2006/relationships/slide" Target="slides/slide17.xml"/><Relationship Id="rId24" Type="http://schemas.openxmlformats.org/officeDocument/2006/relationships/font" Target="fonts/Ubuntu-italic.fntdata"/><Relationship Id="rId23" Type="http://schemas.openxmlformats.org/officeDocument/2006/relationships/font" Target="fonts/Ubuntu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Bengali-regular.fntdata"/><Relationship Id="rId25" Type="http://schemas.openxmlformats.org/officeDocument/2006/relationships/font" Target="fonts/Ubuntu-boldItalic.fntdata"/><Relationship Id="rId28" Type="http://schemas.openxmlformats.org/officeDocument/2006/relationships/font" Target="fonts/Manrope-regular.fntdata"/><Relationship Id="rId27" Type="http://schemas.openxmlformats.org/officeDocument/2006/relationships/font" Target="fonts/NotoSansBengali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anrop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" name="Google Shape;1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a9e4cc8fca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2a9e4cc8fca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g2a9e4cc8fca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aa6f7c6e86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2aa6f7c6e86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2aa6f7c6e86_0_2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cfa53b24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5cfa53b24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5cfa53b24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cfa53b242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5cfa53b242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5cfa53b242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a6f7c6e86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aa6f7c6e86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2aa6f7c6e86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d94bcf10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5d94bcf10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5d94bcf10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a6f7c6e86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aa6f7c6e86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2aa6f7c6e86_0_1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9e4cc8fca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2a9e4cc8fca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2a9e4cc8fca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aa6f7c6e86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aa6f7c6e86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2aa6f7c6e86_0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aa6f7c6e86_0_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2aa6f7c6e86_0_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2aa6f7c6e86_0_3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a6f7c6e86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aa6f7c6e86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2aa6f7c6e86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a6f7c6e86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2aa6f7c6e86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2aa6f7c6e86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a6f7c6e86_0_3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2aa6f7c6e86_0_3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2aa6f7c6e86_0_3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aa6f7c6e86_0_3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2aa6f7c6e86_0_3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2aa6f7c6e86_0_3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g2a9e4cc8fca_0_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500" y="4610475"/>
            <a:ext cx="1236500" cy="4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g2a9e4cc8fca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400" y="90575"/>
            <a:ext cx="1298703" cy="4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hyperlink" Target="https://youtu.be/Sj-IvGnjODE?si=jpAaLexO_-1qCau7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youtube.com/watch?v=IO1wx3zBR6s" TargetMode="External"/><Relationship Id="rId22" Type="http://schemas.openxmlformats.org/officeDocument/2006/relationships/hyperlink" Target="https://www.linkedin.com/company/superhii/" TargetMode="External"/><Relationship Id="rId21" Type="http://schemas.openxmlformats.org/officeDocument/2006/relationships/hyperlink" Target="https://www.superhii.com/" TargetMode="External"/><Relationship Id="rId24" Type="http://schemas.openxmlformats.org/officeDocument/2006/relationships/hyperlink" Target="https://www.youtube.com/watch?v=8zRZ-kBgF58" TargetMode="External"/><Relationship Id="rId23" Type="http://schemas.openxmlformats.org/officeDocument/2006/relationships/hyperlink" Target="https://www.linkedin.com/company/superhii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shopic.co/home/" TargetMode="External"/><Relationship Id="rId4" Type="http://schemas.openxmlformats.org/officeDocument/2006/relationships/hyperlink" Target="https://www.linkedin.com/company/shopic/" TargetMode="External"/><Relationship Id="rId9" Type="http://schemas.openxmlformats.org/officeDocument/2006/relationships/hyperlink" Target="https://tracxpoint.com/" TargetMode="External"/><Relationship Id="rId26" Type="http://schemas.openxmlformats.org/officeDocument/2006/relationships/image" Target="../media/image11.png"/><Relationship Id="rId25" Type="http://schemas.openxmlformats.org/officeDocument/2006/relationships/hyperlink" Target="https://www.youtube.com/watch?v=8zRZ-kBgF58" TargetMode="External"/><Relationship Id="rId27" Type="http://schemas.openxmlformats.org/officeDocument/2006/relationships/image" Target="../media/image12.png"/><Relationship Id="rId5" Type="http://schemas.openxmlformats.org/officeDocument/2006/relationships/hyperlink" Target="https://www.linkedin.com/company/shopic/" TargetMode="External"/><Relationship Id="rId6" Type="http://schemas.openxmlformats.org/officeDocument/2006/relationships/hyperlink" Target="https://www.youtube.com/watch?v=eQwiN5bE2VQ" TargetMode="External"/><Relationship Id="rId7" Type="http://schemas.openxmlformats.org/officeDocument/2006/relationships/hyperlink" Target="https://www.youtube.com/watch?v=eQwiN5bE2VQ" TargetMode="External"/><Relationship Id="rId8" Type="http://schemas.openxmlformats.org/officeDocument/2006/relationships/hyperlink" Target="https://www.youtube.com/watch?v=eQwiN5bE2VQ" TargetMode="External"/><Relationship Id="rId11" Type="http://schemas.openxmlformats.org/officeDocument/2006/relationships/hyperlink" Target="https://www.linkedin.com/company/tracxpoint/" TargetMode="External"/><Relationship Id="rId10" Type="http://schemas.openxmlformats.org/officeDocument/2006/relationships/hyperlink" Target="https://www.linkedin.com/company/tracxpoint/" TargetMode="External"/><Relationship Id="rId13" Type="http://schemas.openxmlformats.org/officeDocument/2006/relationships/hyperlink" Target="https://www.youtube.com/watch?v=tFlEjB8jr2g&amp;t=1s" TargetMode="External"/><Relationship Id="rId12" Type="http://schemas.openxmlformats.org/officeDocument/2006/relationships/hyperlink" Target="https://www.youtube.com/watch?v=tFlEjB8jr2g&amp;t=1s" TargetMode="External"/><Relationship Id="rId15" Type="http://schemas.openxmlformats.org/officeDocument/2006/relationships/hyperlink" Target="http://caper.ai/" TargetMode="External"/><Relationship Id="rId14" Type="http://schemas.openxmlformats.org/officeDocument/2006/relationships/hyperlink" Target="https://www.youtube.com/watch?v=tFlEjB8jr2g&amp;t=1s" TargetMode="External"/><Relationship Id="rId17" Type="http://schemas.openxmlformats.org/officeDocument/2006/relationships/hyperlink" Target="https://www.linkedin.com/company/caper-ai/posts/?feedView=all" TargetMode="External"/><Relationship Id="rId16" Type="http://schemas.openxmlformats.org/officeDocument/2006/relationships/hyperlink" Target="https://www.linkedin.com/company/caper-ai/posts/?feedView=all" TargetMode="External"/><Relationship Id="rId19" Type="http://schemas.openxmlformats.org/officeDocument/2006/relationships/hyperlink" Target="https://www.youtube.com/watch?v=IO1wx3zBR6s" TargetMode="External"/><Relationship Id="rId18" Type="http://schemas.openxmlformats.org/officeDocument/2006/relationships/hyperlink" Target="https://www.youtube.com/watch?v=IO1wx3zBR6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magiqeye.com/" TargetMode="External"/><Relationship Id="rId4" Type="http://schemas.openxmlformats.org/officeDocument/2006/relationships/hyperlink" Target="https://www.linkedin.com/company/magiqeye/" TargetMode="External"/><Relationship Id="rId9" Type="http://schemas.openxmlformats.org/officeDocument/2006/relationships/hyperlink" Target="https://instacart.careers/" TargetMode="External"/><Relationship Id="rId5" Type="http://schemas.openxmlformats.org/officeDocument/2006/relationships/hyperlink" Target="https://www.linkedin.com/company/magiqeye/" TargetMode="External"/><Relationship Id="rId6" Type="http://schemas.openxmlformats.org/officeDocument/2006/relationships/hyperlink" Target="https://www.youtube.com/watch?v=rcX9ZiJ3ZiM" TargetMode="External"/><Relationship Id="rId7" Type="http://schemas.openxmlformats.org/officeDocument/2006/relationships/hyperlink" Target="https://www.youtube.com/watch?v=rcX9ZiJ3ZiM" TargetMode="External"/><Relationship Id="rId8" Type="http://schemas.openxmlformats.org/officeDocument/2006/relationships/hyperlink" Target="https://www.youtube.com/watch?v=rcX9ZiJ3ZiM" TargetMode="External"/><Relationship Id="rId11" Type="http://schemas.openxmlformats.org/officeDocument/2006/relationships/hyperlink" Target="https://www.linkedin.com/company/instacart/posts/?feedView=all" TargetMode="External"/><Relationship Id="rId10" Type="http://schemas.openxmlformats.org/officeDocument/2006/relationships/hyperlink" Target="https://www.linkedin.com/company/instacart/posts/?feedView=all" TargetMode="External"/><Relationship Id="rId13" Type="http://schemas.openxmlformats.org/officeDocument/2006/relationships/hyperlink" Target="https://www.youtube.com/watch?v=R2opDNysGds" TargetMode="External"/><Relationship Id="rId12" Type="http://schemas.openxmlformats.org/officeDocument/2006/relationships/hyperlink" Target="https://www.youtube.com/watch?v=R2opDNysGds" TargetMode="External"/><Relationship Id="rId15" Type="http://schemas.openxmlformats.org/officeDocument/2006/relationships/hyperlink" Target="https://www.youtube.com/watch?v=2sWoiOOtSQo" TargetMode="External"/><Relationship Id="rId14" Type="http://schemas.openxmlformats.org/officeDocument/2006/relationships/hyperlink" Target="https://www.youtube.com/watch?v=n7slITZM1O0" TargetMode="External"/><Relationship Id="rId1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Relationship Id="rId4" Type="http://schemas.openxmlformats.org/officeDocument/2006/relationships/image" Target="../media/image8.jpg"/><Relationship Id="rId5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kS9gWH5fypY" TargetMode="External"/><Relationship Id="rId4" Type="http://schemas.openxmlformats.org/officeDocument/2006/relationships/image" Target="../media/image13.png"/><Relationship Id="rId9" Type="http://schemas.openxmlformats.org/officeDocument/2006/relationships/image" Target="../media/image28.png"/><Relationship Id="rId5" Type="http://schemas.openxmlformats.org/officeDocument/2006/relationships/image" Target="../media/image9.jp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hyperlink" Target="https://www.youtube.com/watch?v=NrmMk1Myrxc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jpg"/><Relationship Id="rId4" Type="http://schemas.openxmlformats.org/officeDocument/2006/relationships/hyperlink" Target="https://iarecycle.tuisku.eu/" TargetMode="External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tuisku.eu/" TargetMode="External"/><Relationship Id="rId4" Type="http://schemas.openxmlformats.org/officeDocument/2006/relationships/hyperlink" Target="https://iacarry.tuisku.eu/" TargetMode="External"/><Relationship Id="rId5" Type="http://schemas.openxmlformats.org/officeDocument/2006/relationships/hyperlink" Target="https://iarecycle.tuisku.eu/" TargetMode="External"/><Relationship Id="rId6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6554258" y="116167"/>
            <a:ext cx="238125" cy="238125"/>
          </a:xfrm>
          <a:prstGeom prst="roundRect">
            <a:avLst>
              <a:gd fmla="val -384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5505504" y="1464726"/>
            <a:ext cx="1190625" cy="11906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477561" y="2782366"/>
            <a:ext cx="5486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Funding</a:t>
            </a:r>
            <a:endParaRPr b="0" i="0" sz="4300" u="none" cap="none" strike="noStrik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Pitch Deck</a:t>
            </a:r>
            <a:endParaRPr b="0" i="0" sz="4300" u="none" cap="none" strike="noStrik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2" name="Google Shape;22;p2" title="carro_lijero.jpeg"/>
          <p:cNvPicPr preferRelativeResize="0"/>
          <p:nvPr/>
        </p:nvPicPr>
        <p:blipFill rotWithShape="1">
          <a:blip r:embed="rId3">
            <a:alphaModFix/>
          </a:blip>
          <a:srcRect b="0" l="14000" r="5200" t="0"/>
          <a:stretch/>
        </p:blipFill>
        <p:spPr>
          <a:xfrm>
            <a:off x="6076911" y="237456"/>
            <a:ext cx="2827282" cy="466705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/>
          <p:nvPr/>
        </p:nvSpPr>
        <p:spPr>
          <a:xfrm>
            <a:off x="8429624" y="489"/>
            <a:ext cx="476400" cy="476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910863" y="4515778"/>
            <a:ext cx="1190700" cy="1190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3713800" y="237450"/>
            <a:ext cx="2250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JANUARY </a:t>
            </a: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202</a:t>
            </a: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649400" y="476750"/>
            <a:ext cx="1302900" cy="1302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7531200" y="4039675"/>
            <a:ext cx="570300" cy="476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975" y="1316402"/>
            <a:ext cx="1539124" cy="148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 txBox="1"/>
          <p:nvPr/>
        </p:nvSpPr>
        <p:spPr>
          <a:xfrm>
            <a:off x="2136950" y="1408588"/>
            <a:ext cx="3329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iaCarry</a:t>
            </a:r>
            <a:br>
              <a:rPr b="0" i="0" lang="en-US" sz="4500" u="none" cap="none" strike="noStrik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b="0" i="0" lang="en-US" sz="19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payment in just 6 seconds!</a:t>
            </a:r>
            <a:endParaRPr b="0" i="0" sz="2300" u="none" cap="none" strike="noStrike">
              <a:solidFill>
                <a:srgbClr val="000000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a9e4cc8fca_0_7"/>
          <p:cNvSpPr/>
          <p:nvPr/>
        </p:nvSpPr>
        <p:spPr>
          <a:xfrm>
            <a:off x="4095740" y="529231"/>
            <a:ext cx="952500" cy="95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g2a9e4cc8fca_0_7" title="ia_carry_18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3200" y="1560000"/>
            <a:ext cx="4320800" cy="243174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2a9e4cc8fca_0_7"/>
          <p:cNvSpPr/>
          <p:nvPr/>
        </p:nvSpPr>
        <p:spPr>
          <a:xfrm>
            <a:off x="640600" y="474300"/>
            <a:ext cx="35655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iaCarry-Station Components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Shopping Trolley</a:t>
            </a:r>
            <a:r>
              <a:rPr lang="en-US" sz="1100">
                <a:solidFill>
                  <a:schemeClr val="dk1"/>
                </a:solidFill>
              </a:rPr>
              <a:t> – Positioned on the weighing platform, filled with items.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Weighing Platform</a:t>
            </a:r>
            <a:r>
              <a:rPr lang="en-US" sz="1100">
                <a:solidFill>
                  <a:schemeClr val="dk1"/>
                </a:solidFill>
              </a:rPr>
              <a:t> – Base unit that detects total weight.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Overhead Camera System</a:t>
            </a:r>
            <a:r>
              <a:rPr lang="en-US" sz="1100">
                <a:solidFill>
                  <a:schemeClr val="dk1"/>
                </a:solidFill>
              </a:rPr>
              <a:t> – Captures top-down view of cart contents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Interactive Display Screen</a:t>
            </a:r>
            <a:r>
              <a:rPr lang="en-US" sz="1100">
                <a:solidFill>
                  <a:schemeClr val="dk1"/>
                </a:solidFill>
              </a:rPr>
              <a:t> – Shows recognized items and prices.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Electronic Payment Terminal</a:t>
            </a:r>
            <a:r>
              <a:rPr lang="en-US" sz="1100">
                <a:solidFill>
                  <a:schemeClr val="dk1"/>
                </a:solidFill>
              </a:rPr>
              <a:t> – Enables quick and accessible checkout.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Exit Turnstile (Post-Checkout)</a:t>
            </a:r>
            <a:r>
              <a:rPr lang="en-US" sz="1100">
                <a:solidFill>
                  <a:schemeClr val="dk1"/>
                </a:solidFill>
              </a:rPr>
              <a:t> – Opens after successful payment.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100">
                <a:solidFill>
                  <a:schemeClr val="dk1"/>
                </a:solidFill>
              </a:rPr>
              <a:t>Internal / Not Directly Visible:</a:t>
            </a:r>
            <a:endParaRPr b="1"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AI-Powered Recognition Software</a:t>
            </a:r>
            <a:r>
              <a:rPr lang="en-US" sz="1100">
                <a:solidFill>
                  <a:schemeClr val="dk1"/>
                </a:solidFill>
              </a:rPr>
              <a:t> – Analyzes visuals and weight data in real-time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 u="sng">
                <a:solidFill>
                  <a:schemeClr val="hlink"/>
                </a:solidFill>
                <a:hlinkClick r:id="rId4"/>
              </a:rPr>
              <a:t>https://youtu.be/Sj-IvGnjODE?si=jpAaLexO_-1qCau7</a:t>
            </a:r>
            <a:r>
              <a:rPr lang="en-US" sz="1300"/>
              <a:t>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2a9e4cc8fca_0_7"/>
          <p:cNvSpPr/>
          <p:nvPr/>
        </p:nvSpPr>
        <p:spPr>
          <a:xfrm>
            <a:off x="6434100" y="4670246"/>
            <a:ext cx="476400" cy="476400"/>
          </a:xfrm>
          <a:prstGeom prst="roundRect">
            <a:avLst>
              <a:gd fmla="val -192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a9e4cc8fca_0_7"/>
          <p:cNvSpPr/>
          <p:nvPr/>
        </p:nvSpPr>
        <p:spPr>
          <a:xfrm>
            <a:off x="7956723" y="-716409"/>
            <a:ext cx="1190700" cy="1190700"/>
          </a:xfrm>
          <a:prstGeom prst="roundRect">
            <a:avLst>
              <a:gd fmla="val -768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2a9e4cc8fca_0_7"/>
          <p:cNvSpPr/>
          <p:nvPr/>
        </p:nvSpPr>
        <p:spPr>
          <a:xfrm>
            <a:off x="7986519" y="474806"/>
            <a:ext cx="238200" cy="238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2a9e4cc8fca_0_7"/>
          <p:cNvSpPr/>
          <p:nvPr/>
        </p:nvSpPr>
        <p:spPr>
          <a:xfrm>
            <a:off x="-284700" y="3724825"/>
            <a:ext cx="709800" cy="7356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aa6f7c6e86_0_265"/>
          <p:cNvSpPr/>
          <p:nvPr/>
        </p:nvSpPr>
        <p:spPr>
          <a:xfrm>
            <a:off x="8678427" y="832318"/>
            <a:ext cx="714300" cy="714300"/>
          </a:xfrm>
          <a:prstGeom prst="roundRect">
            <a:avLst>
              <a:gd fmla="val -128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2aa6f7c6e86_0_265"/>
          <p:cNvSpPr/>
          <p:nvPr/>
        </p:nvSpPr>
        <p:spPr>
          <a:xfrm>
            <a:off x="4484427" y="-1113880"/>
            <a:ext cx="1592700" cy="1592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aa6f7c6e86_0_265"/>
          <p:cNvSpPr/>
          <p:nvPr/>
        </p:nvSpPr>
        <p:spPr>
          <a:xfrm>
            <a:off x="-1019404" y="2570473"/>
            <a:ext cx="1190700" cy="1190700"/>
          </a:xfrm>
          <a:prstGeom prst="roundRect">
            <a:avLst>
              <a:gd fmla="val -768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2aa6f7c6e86_0_265"/>
          <p:cNvSpPr/>
          <p:nvPr/>
        </p:nvSpPr>
        <p:spPr>
          <a:xfrm>
            <a:off x="434842" y="316025"/>
            <a:ext cx="2835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Revenue Model</a:t>
            </a:r>
            <a:endParaRPr b="0" i="0" sz="2400" u="none" cap="none" strike="noStrike">
              <a:solidFill>
                <a:schemeClr val="dk1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  <p:sp>
        <p:nvSpPr>
          <p:cNvPr id="51" name="Google Shape;51;g2aa6f7c6e86_0_265"/>
          <p:cNvSpPr/>
          <p:nvPr/>
        </p:nvSpPr>
        <p:spPr>
          <a:xfrm>
            <a:off x="481061" y="3561512"/>
            <a:ext cx="2743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Installation of the iaCarry-Station (scale, camera, screen, etc) (18000€) and associated trolleys (25€ per unit).  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Training course for shop employees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2aa6f7c6e86_0_265"/>
          <p:cNvSpPr/>
          <p:nvPr/>
        </p:nvSpPr>
        <p:spPr>
          <a:xfrm>
            <a:off x="3312333" y="3562179"/>
            <a:ext cx="2743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Licence fee </a:t>
            </a:r>
            <a:r>
              <a:rPr b="1" lang="en-US" sz="1000">
                <a:latin typeface="Manrope"/>
                <a:ea typeface="Manrope"/>
                <a:cs typeface="Manrope"/>
                <a:sym typeface="Manrope"/>
              </a:rPr>
              <a:t>9</a:t>
            </a: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00€ per month per station.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Also available on a per recognition basis, on purchases of less than 8€ charge 0,01€. On purchases over €0.04 (5000 purchases per month for €200). 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" name="Google Shape;53;g2aa6f7c6e86_0_265"/>
          <p:cNvSpPr/>
          <p:nvPr/>
        </p:nvSpPr>
        <p:spPr>
          <a:xfrm>
            <a:off x="6143827" y="3558638"/>
            <a:ext cx="2743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Maintenance plan for 45€ per month for each iaCarry-Station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2aa6f7c6e86_0_265"/>
          <p:cNvSpPr/>
          <p:nvPr/>
        </p:nvSpPr>
        <p:spPr>
          <a:xfrm>
            <a:off x="476653" y="899778"/>
            <a:ext cx="301500" cy="301500"/>
          </a:xfrm>
          <a:prstGeom prst="ellipse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35575" lIns="16750" spcFirstLastPara="1" rIns="16750" wrap="square" tIns="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2aa6f7c6e86_0_265"/>
          <p:cNvSpPr/>
          <p:nvPr/>
        </p:nvSpPr>
        <p:spPr>
          <a:xfrm>
            <a:off x="3312025" y="896054"/>
            <a:ext cx="301500" cy="301500"/>
          </a:xfrm>
          <a:prstGeom prst="ellipse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35575" lIns="16750" spcFirstLastPara="1" rIns="16750" wrap="square" tIns="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2aa6f7c6e86_0_265"/>
          <p:cNvSpPr/>
          <p:nvPr/>
        </p:nvSpPr>
        <p:spPr>
          <a:xfrm>
            <a:off x="6145251" y="896353"/>
            <a:ext cx="301500" cy="301500"/>
          </a:xfrm>
          <a:prstGeom prst="ellipse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35575" lIns="16750" spcFirstLastPara="1" rIns="16750" wrap="square" tIns="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2aa6f7c6e86_0_265"/>
          <p:cNvSpPr/>
          <p:nvPr/>
        </p:nvSpPr>
        <p:spPr>
          <a:xfrm>
            <a:off x="476640" y="3361163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Installation and sale of optimal trolley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2aa6f7c6e86_0_265"/>
          <p:cNvSpPr/>
          <p:nvPr/>
        </p:nvSpPr>
        <p:spPr>
          <a:xfrm>
            <a:off x="3309865" y="336183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Software licence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2aa6f7c6e86_0_265"/>
          <p:cNvSpPr/>
          <p:nvPr/>
        </p:nvSpPr>
        <p:spPr>
          <a:xfrm>
            <a:off x="6143091" y="336183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Maintenance and updates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g2aa6f7c6e86_0_265"/>
          <p:cNvPicPr preferRelativeResize="0"/>
          <p:nvPr/>
        </p:nvPicPr>
        <p:blipFill rotWithShape="1">
          <a:blip r:embed="rId3">
            <a:alphaModFix/>
          </a:blip>
          <a:srcRect b="0" l="2343" r="2335" t="0"/>
          <a:stretch/>
        </p:blipFill>
        <p:spPr>
          <a:xfrm>
            <a:off x="3613527" y="1275197"/>
            <a:ext cx="1725381" cy="172538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aa6f7c6e86_0_265"/>
          <p:cNvSpPr/>
          <p:nvPr/>
        </p:nvSpPr>
        <p:spPr>
          <a:xfrm>
            <a:off x="6143093" y="4982273"/>
            <a:ext cx="476400" cy="47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2aa6f7c6e86_0_265"/>
          <p:cNvSpPr/>
          <p:nvPr/>
        </p:nvSpPr>
        <p:spPr>
          <a:xfrm>
            <a:off x="8551178" y="1167467"/>
            <a:ext cx="238200" cy="238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2aa6f7c6e86_0_265"/>
          <p:cNvSpPr/>
          <p:nvPr/>
        </p:nvSpPr>
        <p:spPr>
          <a:xfrm>
            <a:off x="6028290" y="387426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Note: Figures  € are estimates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g2aa6f7c6e86_0_265"/>
          <p:cNvPicPr preferRelativeResize="0"/>
          <p:nvPr/>
        </p:nvPicPr>
        <p:blipFill rotWithShape="1">
          <a:blip r:embed="rId4">
            <a:alphaModFix/>
          </a:blip>
          <a:srcRect b="0" l="3521" r="3531" t="0"/>
          <a:stretch/>
        </p:blipFill>
        <p:spPr>
          <a:xfrm>
            <a:off x="6446750" y="1275200"/>
            <a:ext cx="1906300" cy="17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g2aa6f7c6e86_0_265" title="camara_logo_lik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950" y="1315575"/>
            <a:ext cx="2545525" cy="164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cfa53b242_1_0"/>
          <p:cNvSpPr/>
          <p:nvPr/>
        </p:nvSpPr>
        <p:spPr>
          <a:xfrm>
            <a:off x="4095740" y="529231"/>
            <a:ext cx="952500" cy="95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5cfa53b242_1_0"/>
          <p:cNvSpPr/>
          <p:nvPr/>
        </p:nvSpPr>
        <p:spPr>
          <a:xfrm>
            <a:off x="640600" y="474300"/>
            <a:ext cx="35655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</a:rPr>
              <a:t>1. Shopic</a:t>
            </a:r>
            <a:r>
              <a:rPr lang="en-US" sz="800">
                <a:solidFill>
                  <a:schemeClr val="dk1"/>
                </a:solidFill>
              </a:rPr>
              <a:t> – </a:t>
            </a:r>
            <a:r>
              <a:rPr i="1" lang="en-US" sz="800">
                <a:solidFill>
                  <a:schemeClr val="dk1"/>
                </a:solidFill>
              </a:rPr>
              <a:t>Tel Aviv (~70 employees)</a:t>
            </a:r>
            <a:endParaRPr i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Clip-on device for traditional carts, detects products in real-time, enables fast checkout.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 u="sng">
                <a:solidFill>
                  <a:schemeClr val="hlink"/>
                </a:solidFill>
                <a:hlinkClick r:id="rId3"/>
              </a:rPr>
              <a:t>🔗 Web</a:t>
            </a:r>
            <a:r>
              <a:rPr lang="en-US" sz="800">
                <a:solidFill>
                  <a:schemeClr val="dk1"/>
                </a:solidFill>
              </a:rPr>
              <a:t> |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chemeClr val="hlink"/>
                </a:solidFill>
                <a:hlinkClick r:id="rId5"/>
              </a:rPr>
              <a:t>💼 LinkedIn</a:t>
            </a:r>
            <a:r>
              <a:rPr lang="en-US" sz="800">
                <a:solidFill>
                  <a:schemeClr val="dk1"/>
                </a:solidFill>
              </a:rPr>
              <a:t> |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chemeClr val="hlink"/>
                </a:solidFill>
                <a:hlinkClick r:id="rId7"/>
              </a:rPr>
              <a:t>🎥 Demo</a:t>
            </a:r>
            <a:br>
              <a:rPr lang="en-US" sz="800" u="sng">
                <a:solidFill>
                  <a:schemeClr val="hlink"/>
                </a:solidFill>
                <a:hlinkClick r:id="rId8"/>
              </a:rPr>
            </a:br>
            <a:endParaRPr sz="8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</a:rPr>
              <a:t>2. Tracxpoint</a:t>
            </a:r>
            <a:r>
              <a:rPr lang="en-US" sz="800">
                <a:solidFill>
                  <a:schemeClr val="dk1"/>
                </a:solidFill>
              </a:rPr>
              <a:t> – </a:t>
            </a:r>
            <a:r>
              <a:rPr i="1" lang="en-US" sz="800">
                <a:solidFill>
                  <a:schemeClr val="dk1"/>
                </a:solidFill>
              </a:rPr>
              <a:t>Haifa (~30 employees)</a:t>
            </a:r>
            <a:endParaRPr i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Full smart cart with sensors and screen; adds items as you shop, charges on exit.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 u="sng">
                <a:solidFill>
                  <a:schemeClr val="hlink"/>
                </a:solidFill>
                <a:hlinkClick r:id="rId9"/>
              </a:rPr>
              <a:t>🔗 Web</a:t>
            </a:r>
            <a:r>
              <a:rPr lang="en-US" sz="800">
                <a:solidFill>
                  <a:schemeClr val="dk1"/>
                </a:solidFill>
              </a:rPr>
              <a:t> |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chemeClr val="hlink"/>
                </a:solidFill>
                <a:hlinkClick r:id="rId11"/>
              </a:rPr>
              <a:t>💼 LinkedIn</a:t>
            </a:r>
            <a:r>
              <a:rPr lang="en-US" sz="800">
                <a:solidFill>
                  <a:schemeClr val="dk1"/>
                </a:solidFill>
              </a:rPr>
              <a:t> |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chemeClr val="hlink"/>
                </a:solidFill>
                <a:hlinkClick r:id="rId13"/>
              </a:rPr>
              <a:t>🎥 Demo</a:t>
            </a:r>
            <a:br>
              <a:rPr lang="en-US" sz="800" u="sng">
                <a:solidFill>
                  <a:schemeClr val="hlink"/>
                </a:solidFill>
                <a:hlinkClick r:id="rId14"/>
              </a:rPr>
            </a:br>
            <a:endParaRPr sz="8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</a:rPr>
              <a:t>3. Caper AI (Instacart)</a:t>
            </a:r>
            <a:r>
              <a:rPr lang="en-US" sz="800">
                <a:solidFill>
                  <a:schemeClr val="dk1"/>
                </a:solidFill>
              </a:rPr>
              <a:t> – </a:t>
            </a:r>
            <a:r>
              <a:rPr i="1" lang="en-US" sz="800">
                <a:solidFill>
                  <a:schemeClr val="dk1"/>
                </a:solidFill>
              </a:rPr>
              <a:t>New York (~1200 employees)</a:t>
            </a:r>
            <a:endParaRPr i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Smart cart with embedded sensors and display, owned by Instacart. </a:t>
            </a:r>
            <a:r>
              <a:rPr lang="en-US" sz="800" u="sng">
                <a:solidFill>
                  <a:schemeClr val="hlink"/>
                </a:solidFill>
                <a:hlinkClick r:id="rId15"/>
              </a:rPr>
              <a:t>🔗 Web</a:t>
            </a:r>
            <a:r>
              <a:rPr lang="en-US" sz="800">
                <a:solidFill>
                  <a:schemeClr val="dk1"/>
                </a:solidFill>
              </a:rPr>
              <a:t> |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chemeClr val="hlink"/>
                </a:solidFill>
                <a:hlinkClick r:id="rId17"/>
              </a:rPr>
              <a:t>💼 LinkedIn</a:t>
            </a:r>
            <a:r>
              <a:rPr lang="en-US" sz="800">
                <a:solidFill>
                  <a:schemeClr val="dk1"/>
                </a:solidFill>
              </a:rPr>
              <a:t> |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chemeClr val="hlink"/>
                </a:solidFill>
                <a:hlinkClick r:id="rId19"/>
              </a:rPr>
              <a:t>🎥 Demo</a:t>
            </a:r>
            <a:br>
              <a:rPr lang="en-US" sz="800" u="sng">
                <a:solidFill>
                  <a:schemeClr val="hlink"/>
                </a:solidFill>
                <a:hlinkClick r:id="rId20"/>
              </a:rPr>
            </a:br>
            <a:endParaRPr sz="8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</a:rPr>
              <a:t>4. SuperHii</a:t>
            </a:r>
            <a:r>
              <a:rPr lang="en-US" sz="800">
                <a:solidFill>
                  <a:schemeClr val="dk1"/>
                </a:solidFill>
              </a:rPr>
              <a:t> – </a:t>
            </a:r>
            <a:r>
              <a:rPr i="1" lang="en-US" sz="800">
                <a:solidFill>
                  <a:schemeClr val="dk1"/>
                </a:solidFill>
              </a:rPr>
              <a:t>China (Xi’an &amp; Jiaxing)</a:t>
            </a:r>
            <a:endParaRPr i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-US" sz="800">
                <a:solidFill>
                  <a:schemeClr val="dk1"/>
                </a:solidFill>
              </a:rPr>
              <a:t>Smart carts and autonomous retail solutions with high efficiency and seamless UX. </a:t>
            </a:r>
            <a:r>
              <a:rPr lang="en-US" sz="800" u="sng">
                <a:solidFill>
                  <a:schemeClr val="hlink"/>
                </a:solidFill>
                <a:hlinkClick r:id="rId21"/>
              </a:rPr>
              <a:t>🔗 Web</a:t>
            </a:r>
            <a:r>
              <a:rPr lang="en-US" sz="800">
                <a:solidFill>
                  <a:schemeClr val="dk1"/>
                </a:solidFill>
              </a:rPr>
              <a:t> |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chemeClr val="hlink"/>
                </a:solidFill>
                <a:hlinkClick r:id="rId23"/>
              </a:rPr>
              <a:t>💼 LinkedIn</a:t>
            </a:r>
            <a:r>
              <a:rPr lang="en-US" sz="800">
                <a:solidFill>
                  <a:schemeClr val="dk1"/>
                </a:solidFill>
              </a:rPr>
              <a:t> |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chemeClr val="hlink"/>
                </a:solidFill>
                <a:hlinkClick r:id="rId25"/>
              </a:rPr>
              <a:t>🎥 Demo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73" name="Google Shape;73;g35cfa53b242_1_0"/>
          <p:cNvSpPr/>
          <p:nvPr/>
        </p:nvSpPr>
        <p:spPr>
          <a:xfrm>
            <a:off x="6434100" y="4670246"/>
            <a:ext cx="476400" cy="476400"/>
          </a:xfrm>
          <a:prstGeom prst="roundRect">
            <a:avLst>
              <a:gd fmla="val -192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5cfa53b242_1_0"/>
          <p:cNvSpPr/>
          <p:nvPr/>
        </p:nvSpPr>
        <p:spPr>
          <a:xfrm>
            <a:off x="7956723" y="-716409"/>
            <a:ext cx="1190700" cy="1190700"/>
          </a:xfrm>
          <a:prstGeom prst="roundRect">
            <a:avLst>
              <a:gd fmla="val -768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5cfa53b242_1_0"/>
          <p:cNvSpPr/>
          <p:nvPr/>
        </p:nvSpPr>
        <p:spPr>
          <a:xfrm>
            <a:off x="7986519" y="474806"/>
            <a:ext cx="238200" cy="238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5cfa53b242_1_0"/>
          <p:cNvSpPr/>
          <p:nvPr/>
        </p:nvSpPr>
        <p:spPr>
          <a:xfrm>
            <a:off x="-284700" y="3724825"/>
            <a:ext cx="709800" cy="7356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g35cfa53b242_1_0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4692275" y="123926"/>
            <a:ext cx="3896626" cy="219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5cfa53b242_1_0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667600" y="2477524"/>
            <a:ext cx="1807700" cy="18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cfa53b242_1_16"/>
          <p:cNvSpPr/>
          <p:nvPr/>
        </p:nvSpPr>
        <p:spPr>
          <a:xfrm>
            <a:off x="4095740" y="529231"/>
            <a:ext cx="952500" cy="95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5cfa53b242_1_16"/>
          <p:cNvSpPr/>
          <p:nvPr/>
        </p:nvSpPr>
        <p:spPr>
          <a:xfrm>
            <a:off x="640600" y="474300"/>
            <a:ext cx="35655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5. MagiQeye</a:t>
            </a:r>
            <a:r>
              <a:rPr lang="en-US" sz="900">
                <a:solidFill>
                  <a:schemeClr val="dk1"/>
                </a:solidFill>
              </a:rPr>
              <a:t> – </a:t>
            </a:r>
            <a:r>
              <a:rPr i="1" lang="en-US" sz="900">
                <a:solidFill>
                  <a:schemeClr val="dk1"/>
                </a:solidFill>
              </a:rPr>
              <a:t>Milan (~5 employees)</a:t>
            </a:r>
            <a:endParaRPr i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AI + RFID checkout solution focused on clothing and apparel.</a:t>
            </a:r>
            <a:br>
              <a:rPr lang="en-US" sz="900">
                <a:solidFill>
                  <a:schemeClr val="dk1"/>
                </a:solidFill>
              </a:rPr>
            </a:br>
            <a:r>
              <a:rPr lang="en-US" sz="900" u="sng">
                <a:solidFill>
                  <a:schemeClr val="hlink"/>
                </a:solidFill>
                <a:hlinkClick r:id="rId3"/>
              </a:rPr>
              <a:t>🔗 Web</a:t>
            </a:r>
            <a:r>
              <a:rPr lang="en-US" sz="900">
                <a:solidFill>
                  <a:schemeClr val="dk1"/>
                </a:solidFill>
              </a:rPr>
              <a:t> |</a:t>
            </a:r>
            <a:r>
              <a:rPr lang="en-US" sz="9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900" u="sng">
                <a:solidFill>
                  <a:schemeClr val="hlink"/>
                </a:solidFill>
                <a:hlinkClick r:id="rId5"/>
              </a:rPr>
              <a:t>💼 LinkedIn</a:t>
            </a:r>
            <a:r>
              <a:rPr lang="en-US" sz="900">
                <a:solidFill>
                  <a:schemeClr val="dk1"/>
                </a:solidFill>
              </a:rPr>
              <a:t> |</a:t>
            </a:r>
            <a:r>
              <a:rPr lang="en-US" sz="9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900" u="sng">
                <a:solidFill>
                  <a:schemeClr val="hlink"/>
                </a:solidFill>
                <a:hlinkClick r:id="rId7"/>
              </a:rPr>
              <a:t>🎥 Demo</a:t>
            </a:r>
            <a:br>
              <a:rPr lang="en-US" sz="900" u="sng">
                <a:solidFill>
                  <a:schemeClr val="hlink"/>
                </a:solidFill>
                <a:hlinkClick r:id="rId8"/>
              </a:rPr>
            </a:br>
            <a:endParaRPr sz="9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6. Instacart</a:t>
            </a:r>
            <a:r>
              <a:rPr lang="en-US" sz="900">
                <a:solidFill>
                  <a:schemeClr val="dk1"/>
                </a:solidFill>
              </a:rPr>
              <a:t> – </a:t>
            </a:r>
            <a:r>
              <a:rPr i="1" lang="en-US" sz="900">
                <a:solidFill>
                  <a:schemeClr val="dk1"/>
                </a:solidFill>
              </a:rPr>
              <a:t>California (~1200 employees)</a:t>
            </a:r>
            <a:endParaRPr i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Mobile self-scanning app; scan items during shopping and pay from phone.</a:t>
            </a:r>
            <a:br>
              <a:rPr lang="en-US" sz="900">
                <a:solidFill>
                  <a:schemeClr val="dk1"/>
                </a:solidFill>
              </a:rPr>
            </a:br>
            <a:r>
              <a:rPr lang="en-US" sz="900" u="sng">
                <a:solidFill>
                  <a:schemeClr val="hlink"/>
                </a:solidFill>
                <a:hlinkClick r:id="rId9"/>
              </a:rPr>
              <a:t>🔗 Web</a:t>
            </a:r>
            <a:r>
              <a:rPr lang="en-US" sz="900">
                <a:solidFill>
                  <a:schemeClr val="dk1"/>
                </a:solidFill>
              </a:rPr>
              <a:t> |</a:t>
            </a:r>
            <a:r>
              <a:rPr lang="en-US" sz="9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900" u="sng">
                <a:solidFill>
                  <a:schemeClr val="hlink"/>
                </a:solidFill>
                <a:hlinkClick r:id="rId11"/>
              </a:rPr>
              <a:t>💼 LinkedIn</a:t>
            </a:r>
            <a:r>
              <a:rPr lang="en-US" sz="900">
                <a:solidFill>
                  <a:schemeClr val="dk1"/>
                </a:solidFill>
              </a:rPr>
              <a:t> |</a:t>
            </a:r>
            <a:r>
              <a:rPr lang="en-US" sz="900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900" u="sng">
                <a:solidFill>
                  <a:schemeClr val="hlink"/>
                </a:solidFill>
                <a:hlinkClick r:id="rId13"/>
              </a:rPr>
              <a:t>🎥 Demo</a:t>
            </a:r>
            <a:endParaRPr sz="9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7. Carrefour Flash</a:t>
            </a:r>
            <a:r>
              <a:rPr lang="en-US" sz="900">
                <a:solidFill>
                  <a:schemeClr val="dk1"/>
                </a:solidFill>
              </a:rPr>
              <a:t> – </a:t>
            </a:r>
            <a:r>
              <a:rPr i="1" lang="en-US" sz="900">
                <a:solidFill>
                  <a:schemeClr val="dk1"/>
                </a:solidFill>
              </a:rPr>
              <a:t>Paris (staffed store)</a:t>
            </a:r>
            <a:endParaRPr i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"Just Walk Out"-style store with 60 cameras and shelf sensors for seamless checkout.</a:t>
            </a:r>
            <a:br>
              <a:rPr lang="en-US" sz="900">
                <a:solidFill>
                  <a:schemeClr val="dk1"/>
                </a:solidFill>
              </a:rPr>
            </a:br>
            <a:r>
              <a:rPr lang="en-US" sz="900" u="sng">
                <a:solidFill>
                  <a:schemeClr val="hlink"/>
                </a:solidFill>
                <a:hlinkClick r:id="rId14"/>
              </a:rPr>
              <a:t>🎥 Demo</a:t>
            </a:r>
            <a:endParaRPr sz="9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8. Amazon Go</a:t>
            </a:r>
            <a:r>
              <a:rPr lang="en-US" sz="900">
                <a:solidFill>
                  <a:schemeClr val="dk1"/>
                </a:solidFill>
              </a:rPr>
              <a:t> – </a:t>
            </a:r>
            <a:r>
              <a:rPr i="1" lang="en-US" sz="900">
                <a:solidFill>
                  <a:schemeClr val="dk1"/>
                </a:solidFill>
              </a:rPr>
              <a:t>Various US cities (~several thousand in Amazon retail)</a:t>
            </a:r>
            <a:endParaRPr i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Pioneered "Just Walk Out" tech: entry via app, items auto-detected, exit without checkout.</a:t>
            </a:r>
            <a:br>
              <a:rPr lang="en-US" sz="900">
                <a:solidFill>
                  <a:schemeClr val="dk1"/>
                </a:solidFill>
              </a:rPr>
            </a:br>
            <a:r>
              <a:rPr lang="en-US" sz="900" u="sng">
                <a:solidFill>
                  <a:schemeClr val="hlink"/>
                </a:solidFill>
                <a:hlinkClick r:id="rId15"/>
              </a:rPr>
              <a:t>🎥 Demo</a:t>
            </a:r>
            <a:endParaRPr sz="9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86" name="Google Shape;86;g35cfa53b242_1_16"/>
          <p:cNvSpPr/>
          <p:nvPr/>
        </p:nvSpPr>
        <p:spPr>
          <a:xfrm>
            <a:off x="6434100" y="4670246"/>
            <a:ext cx="476400" cy="476400"/>
          </a:xfrm>
          <a:prstGeom prst="roundRect">
            <a:avLst>
              <a:gd fmla="val -192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5cfa53b242_1_16"/>
          <p:cNvSpPr/>
          <p:nvPr/>
        </p:nvSpPr>
        <p:spPr>
          <a:xfrm>
            <a:off x="7956723" y="-716409"/>
            <a:ext cx="1190700" cy="1190700"/>
          </a:xfrm>
          <a:prstGeom prst="roundRect">
            <a:avLst>
              <a:gd fmla="val -768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5cfa53b242_1_16"/>
          <p:cNvSpPr/>
          <p:nvPr/>
        </p:nvSpPr>
        <p:spPr>
          <a:xfrm>
            <a:off x="7986519" y="474806"/>
            <a:ext cx="238200" cy="238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5cfa53b242_1_16"/>
          <p:cNvSpPr/>
          <p:nvPr/>
        </p:nvSpPr>
        <p:spPr>
          <a:xfrm>
            <a:off x="-284700" y="3724825"/>
            <a:ext cx="709800" cy="7356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g35cfa53b242_1_1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390500" y="1016593"/>
            <a:ext cx="4633103" cy="2558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a6f7c6e86_0_126"/>
          <p:cNvSpPr/>
          <p:nvPr/>
        </p:nvSpPr>
        <p:spPr>
          <a:xfrm>
            <a:off x="6121815" y="1681593"/>
            <a:ext cx="1308900" cy="1338300"/>
          </a:xfrm>
          <a:prstGeom prst="roundRect">
            <a:avLst>
              <a:gd fmla="val -768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aa6f7c6e86_0_126"/>
          <p:cNvSpPr/>
          <p:nvPr/>
        </p:nvSpPr>
        <p:spPr>
          <a:xfrm>
            <a:off x="457198" y="494933"/>
            <a:ext cx="8229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Target market: Large-Small Stores</a:t>
            </a:r>
            <a:endParaRPr b="1" i="0" sz="2400" u="none" cap="none" strike="noStrike">
              <a:solidFill>
                <a:srgbClr val="000000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8" name="Google Shape;98;g2aa6f7c6e86_0_126"/>
          <p:cNvPicPr preferRelativeResize="0"/>
          <p:nvPr/>
        </p:nvPicPr>
        <p:blipFill rotWithShape="1">
          <a:blip r:embed="rId3">
            <a:alphaModFix/>
          </a:blip>
          <a:srcRect b="0" l="16162" r="16154" t="0"/>
          <a:stretch/>
        </p:blipFill>
        <p:spPr>
          <a:xfrm>
            <a:off x="6385050" y="1367889"/>
            <a:ext cx="1832477" cy="1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aa6f7c6e86_0_126"/>
          <p:cNvSpPr/>
          <p:nvPr/>
        </p:nvSpPr>
        <p:spPr>
          <a:xfrm>
            <a:off x="894431" y="990300"/>
            <a:ext cx="1308900" cy="1338300"/>
          </a:xfrm>
          <a:prstGeom prst="ellipse">
            <a:avLst/>
          </a:prstGeom>
          <a:solidFill>
            <a:srgbClr val="FFD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2aa6f7c6e86_0_126"/>
          <p:cNvPicPr preferRelativeResize="0"/>
          <p:nvPr/>
        </p:nvPicPr>
        <p:blipFill rotWithShape="1">
          <a:blip r:embed="rId4">
            <a:alphaModFix/>
          </a:blip>
          <a:srcRect b="0" l="12075" r="22688" t="0"/>
          <a:stretch/>
        </p:blipFill>
        <p:spPr>
          <a:xfrm>
            <a:off x="634066" y="1395143"/>
            <a:ext cx="1832478" cy="1873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2aa6f7c6e86_0_126"/>
          <p:cNvSpPr/>
          <p:nvPr/>
        </p:nvSpPr>
        <p:spPr>
          <a:xfrm>
            <a:off x="634473" y="3814188"/>
            <a:ext cx="20106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Reserve a specific area in the supermarket to install the iaCarry-Station. This area must be at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least 4.5 square meters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b="0" i="0" sz="9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2aa6f7c6e86_0_126"/>
          <p:cNvSpPr/>
          <p:nvPr/>
        </p:nvSpPr>
        <p:spPr>
          <a:xfrm>
            <a:off x="6387075" y="3791113"/>
            <a:ext cx="20106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Incorporate specialized cameras for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recognition of clothing items, or packers,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considering details such as colors, sizes and styles. QR label implementation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2aa6f7c6e86_0_126"/>
          <p:cNvSpPr/>
          <p:nvPr/>
        </p:nvSpPr>
        <p:spPr>
          <a:xfrm>
            <a:off x="3380198" y="3810275"/>
            <a:ext cx="21015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Efficiently use the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available space to ensure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the iaCarry-Station integrates seamlessly into the supermarket design.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g2aa6f7c6e86_0_126"/>
          <p:cNvPicPr preferRelativeResize="0"/>
          <p:nvPr/>
        </p:nvPicPr>
        <p:blipFill rotWithShape="1">
          <a:blip r:embed="rId5">
            <a:alphaModFix/>
          </a:blip>
          <a:srcRect b="0" l="11599" r="23197" t="0"/>
          <a:stretch/>
        </p:blipFill>
        <p:spPr>
          <a:xfrm>
            <a:off x="3377939" y="1391018"/>
            <a:ext cx="1832477" cy="187363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2aa6f7c6e86_0_126"/>
          <p:cNvSpPr/>
          <p:nvPr/>
        </p:nvSpPr>
        <p:spPr>
          <a:xfrm>
            <a:off x="7986673" y="1123791"/>
            <a:ext cx="523800" cy="535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2aa6f7c6e86_0_126"/>
          <p:cNvSpPr/>
          <p:nvPr/>
        </p:nvSpPr>
        <p:spPr>
          <a:xfrm>
            <a:off x="3214516" y="2857881"/>
            <a:ext cx="261900" cy="267900"/>
          </a:xfrm>
          <a:prstGeom prst="ellipse">
            <a:avLst/>
          </a:prstGeom>
          <a:solidFill>
            <a:srgbClr val="4A4E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2aa6f7c6e86_0_126"/>
          <p:cNvSpPr/>
          <p:nvPr/>
        </p:nvSpPr>
        <p:spPr>
          <a:xfrm>
            <a:off x="1680446" y="3132145"/>
            <a:ext cx="261900" cy="267900"/>
          </a:xfrm>
          <a:prstGeom prst="roundRect">
            <a:avLst>
              <a:gd fmla="val -384000" name="adj"/>
            </a:avLst>
          </a:prstGeom>
          <a:solidFill>
            <a:srgbClr val="FF6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2aa6f7c6e86_0_126"/>
          <p:cNvSpPr/>
          <p:nvPr/>
        </p:nvSpPr>
        <p:spPr>
          <a:xfrm>
            <a:off x="5219685" y="1123798"/>
            <a:ext cx="261900" cy="267900"/>
          </a:xfrm>
          <a:prstGeom prst="roundRect">
            <a:avLst>
              <a:gd fmla="val -384000" name="adj"/>
            </a:avLst>
          </a:prstGeom>
          <a:solidFill>
            <a:srgbClr val="FFD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aa6f7c6e86_0_126"/>
          <p:cNvSpPr/>
          <p:nvPr/>
        </p:nvSpPr>
        <p:spPr>
          <a:xfrm>
            <a:off x="632200" y="3587178"/>
            <a:ext cx="20106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Large Supermarkets</a:t>
            </a:r>
            <a:endParaRPr b="1" i="0" sz="1100" u="none" cap="none" strike="noStrike">
              <a:solidFill>
                <a:schemeClr val="dk1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  <p:sp>
        <p:nvSpPr>
          <p:cNvPr id="110" name="Google Shape;110;g2aa6f7c6e86_0_126"/>
          <p:cNvSpPr/>
          <p:nvPr/>
        </p:nvSpPr>
        <p:spPr>
          <a:xfrm>
            <a:off x="3378708" y="3583053"/>
            <a:ext cx="20106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Small Supermarkets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2aa6f7c6e86_0_126"/>
          <p:cNvSpPr/>
          <p:nvPr/>
        </p:nvSpPr>
        <p:spPr>
          <a:xfrm>
            <a:off x="6387137" y="3576565"/>
            <a:ext cx="20106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Clothing or Furniture Stores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d94bcf108_0_0"/>
          <p:cNvSpPr/>
          <p:nvPr/>
        </p:nvSpPr>
        <p:spPr>
          <a:xfrm>
            <a:off x="6554258" y="116167"/>
            <a:ext cx="238200" cy="238200"/>
          </a:xfrm>
          <a:prstGeom prst="roundRect">
            <a:avLst>
              <a:gd fmla="val -384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d94bcf108_0_0"/>
          <p:cNvSpPr/>
          <p:nvPr/>
        </p:nvSpPr>
        <p:spPr>
          <a:xfrm>
            <a:off x="5505504" y="1464726"/>
            <a:ext cx="1190700" cy="1190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5d94bcf108_0_0"/>
          <p:cNvSpPr/>
          <p:nvPr/>
        </p:nvSpPr>
        <p:spPr>
          <a:xfrm>
            <a:off x="477561" y="2782366"/>
            <a:ext cx="5486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US" sz="4300">
                <a:latin typeface="Ubuntu"/>
                <a:ea typeface="Ubuntu"/>
                <a:cs typeface="Ubuntu"/>
                <a:sym typeface="Ubuntu"/>
              </a:rPr>
              <a:t>The end</a:t>
            </a:r>
            <a:endParaRPr b="0" i="0" sz="4300" u="none" cap="none" strike="noStrik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20" name="Google Shape;120;g35d94bcf108_0_0" title="carro_lijero.jpeg"/>
          <p:cNvPicPr preferRelativeResize="0"/>
          <p:nvPr/>
        </p:nvPicPr>
        <p:blipFill rotWithShape="1">
          <a:blip r:embed="rId3">
            <a:alphaModFix/>
          </a:blip>
          <a:srcRect b="0" l="14000" r="5200" t="0"/>
          <a:stretch/>
        </p:blipFill>
        <p:spPr>
          <a:xfrm>
            <a:off x="6076911" y="237456"/>
            <a:ext cx="2827282" cy="466705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5d94bcf108_0_0"/>
          <p:cNvSpPr/>
          <p:nvPr/>
        </p:nvSpPr>
        <p:spPr>
          <a:xfrm>
            <a:off x="8429624" y="489"/>
            <a:ext cx="476400" cy="476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5d94bcf108_0_0"/>
          <p:cNvSpPr/>
          <p:nvPr/>
        </p:nvSpPr>
        <p:spPr>
          <a:xfrm>
            <a:off x="6910863" y="4515778"/>
            <a:ext cx="1190700" cy="1190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5d94bcf108_0_0"/>
          <p:cNvSpPr/>
          <p:nvPr/>
        </p:nvSpPr>
        <p:spPr>
          <a:xfrm>
            <a:off x="3713800" y="237450"/>
            <a:ext cx="2250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JANUARY 2024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5d94bcf108_0_0"/>
          <p:cNvSpPr/>
          <p:nvPr/>
        </p:nvSpPr>
        <p:spPr>
          <a:xfrm>
            <a:off x="8649400" y="476750"/>
            <a:ext cx="1302900" cy="1302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5d94bcf108_0_0"/>
          <p:cNvSpPr/>
          <p:nvPr/>
        </p:nvSpPr>
        <p:spPr>
          <a:xfrm>
            <a:off x="7531200" y="4039675"/>
            <a:ext cx="570300" cy="476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5d94bcf10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975" y="1316402"/>
            <a:ext cx="1539124" cy="148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5d94bcf108_0_0"/>
          <p:cNvSpPr txBox="1"/>
          <p:nvPr/>
        </p:nvSpPr>
        <p:spPr>
          <a:xfrm>
            <a:off x="2136950" y="1408588"/>
            <a:ext cx="3329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iaCarry</a:t>
            </a:r>
            <a:br>
              <a:rPr b="0" i="0" lang="en-US" sz="4500" u="none" cap="none" strike="noStrik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b="0" i="0" lang="en-US" sz="19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payment in just 6 seconds!</a:t>
            </a:r>
            <a:endParaRPr b="0" i="0" sz="2300" u="none" cap="none" strike="noStrike">
              <a:solidFill>
                <a:srgbClr val="000000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a6f7c6e86_0_182"/>
          <p:cNvSpPr/>
          <p:nvPr/>
        </p:nvSpPr>
        <p:spPr>
          <a:xfrm>
            <a:off x="2352224" y="316815"/>
            <a:ext cx="714300" cy="714300"/>
          </a:xfrm>
          <a:prstGeom prst="roundRect">
            <a:avLst>
              <a:gd fmla="val -128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2aa6f7c6e86_0_182"/>
          <p:cNvSpPr/>
          <p:nvPr/>
        </p:nvSpPr>
        <p:spPr>
          <a:xfrm>
            <a:off x="2231718" y="78827"/>
            <a:ext cx="238200" cy="238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2aa6f7c6e86_0_182"/>
          <p:cNvSpPr/>
          <p:nvPr/>
        </p:nvSpPr>
        <p:spPr>
          <a:xfrm>
            <a:off x="2699384" y="3805671"/>
            <a:ext cx="1190700" cy="1190700"/>
          </a:xfrm>
          <a:prstGeom prst="roundRect">
            <a:avLst>
              <a:gd fmla="val -76800" name="adj"/>
            </a:avLst>
          </a:prstGeom>
          <a:solidFill>
            <a:srgbClr val="FFA8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2aa6f7c6e86_0_182"/>
          <p:cNvSpPr/>
          <p:nvPr/>
        </p:nvSpPr>
        <p:spPr>
          <a:xfrm>
            <a:off x="-2449988" y="476510"/>
            <a:ext cx="5715600" cy="4753200"/>
          </a:xfrm>
          <a:prstGeom prst="roundRect">
            <a:avLst>
              <a:gd fmla="val -19237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2aa6f7c6e86_0_182"/>
          <p:cNvPicPr preferRelativeResize="0"/>
          <p:nvPr/>
        </p:nvPicPr>
        <p:blipFill rotWithShape="1">
          <a:blip r:embed="rId3">
            <a:alphaModFix/>
          </a:blip>
          <a:srcRect b="0" l="4178" r="4186" t="0"/>
          <a:stretch/>
        </p:blipFill>
        <p:spPr>
          <a:xfrm>
            <a:off x="-1739125" y="868825"/>
            <a:ext cx="5715500" cy="43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2aa6f7c6e86_0_182"/>
          <p:cNvSpPr/>
          <p:nvPr/>
        </p:nvSpPr>
        <p:spPr>
          <a:xfrm>
            <a:off x="3885684" y="3571013"/>
            <a:ext cx="238200" cy="238200"/>
          </a:xfrm>
          <a:prstGeom prst="roundRect">
            <a:avLst>
              <a:gd fmla="val -384000" name="adj"/>
            </a:avLst>
          </a:prstGeom>
          <a:solidFill>
            <a:srgbClr val="FFD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pitch-assets-ccb95893-de3f-4266-973c-20049231b248.s3.eu-west-1.amazonaws.com/37712528-4fd8-44a0-b80e-f3b9e7f7dac0?pitch-bytes=2396&amp;pitch-content-type=image%2Fpng" id="139" name="Google Shape;139;g2aa6f7c6e86_0_182"/>
          <p:cNvPicPr preferRelativeResize="0"/>
          <p:nvPr/>
        </p:nvPicPr>
        <p:blipFill rotWithShape="1">
          <a:blip r:embed="rId4">
            <a:alphaModFix/>
          </a:blip>
          <a:srcRect b="6262" l="0" r="0" t="6262"/>
          <a:stretch/>
        </p:blipFill>
        <p:spPr>
          <a:xfrm>
            <a:off x="-1739119" y="478959"/>
            <a:ext cx="5715488" cy="39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aa6f7c6e86_0_182"/>
          <p:cNvSpPr/>
          <p:nvPr/>
        </p:nvSpPr>
        <p:spPr>
          <a:xfrm>
            <a:off x="476250" y="865823"/>
            <a:ext cx="914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2aa6f7c6e86_0_182"/>
          <p:cNvSpPr/>
          <p:nvPr/>
        </p:nvSpPr>
        <p:spPr>
          <a:xfrm>
            <a:off x="240278" y="4855235"/>
            <a:ext cx="476400" cy="47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2aa6f7c6e86_0_182"/>
          <p:cNvSpPr/>
          <p:nvPr/>
        </p:nvSpPr>
        <p:spPr>
          <a:xfrm>
            <a:off x="4570407" y="474999"/>
            <a:ext cx="4572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Competitive Advantages</a:t>
            </a:r>
            <a:endParaRPr b="0" i="0" sz="2400" u="none" cap="none" strike="noStrike">
              <a:solidFill>
                <a:schemeClr val="dk1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  <p:sp>
        <p:nvSpPr>
          <p:cNvPr id="143" name="Google Shape;143;g2aa6f7c6e86_0_182"/>
          <p:cNvSpPr/>
          <p:nvPr/>
        </p:nvSpPr>
        <p:spPr>
          <a:xfrm>
            <a:off x="5081367" y="1257922"/>
            <a:ext cx="3657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Conventional trolley: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iaCarry takes advantage of conventional trolleys without the need for additional software.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2aa6f7c6e86_0_182"/>
          <p:cNvSpPr/>
          <p:nvPr/>
        </p:nvSpPr>
        <p:spPr>
          <a:xfrm>
            <a:off x="4571990" y="1237172"/>
            <a:ext cx="301500" cy="301500"/>
          </a:xfrm>
          <a:prstGeom prst="ellipse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35575" lIns="16750" spcFirstLastPara="1" rIns="16750" wrap="square" tIns="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aa6f7c6e86_0_182"/>
          <p:cNvSpPr/>
          <p:nvPr/>
        </p:nvSpPr>
        <p:spPr>
          <a:xfrm>
            <a:off x="5081367" y="1856975"/>
            <a:ext cx="3657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iaCarry-Station easy to install: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iaCarry-Station is as simple as a scale, a camera, display and a dataphone, minimising disruption to the shop's operation, allowing for </a:t>
            </a:r>
            <a:r>
              <a:rPr b="1" i="0" lang="en-US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scalability.</a:t>
            </a:r>
            <a:br>
              <a:rPr b="1" i="0" lang="en-US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Minimal store adaptation  </a:t>
            </a:r>
            <a:endParaRPr b="1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aa6f7c6e86_0_182"/>
          <p:cNvSpPr/>
          <p:nvPr/>
        </p:nvSpPr>
        <p:spPr>
          <a:xfrm>
            <a:off x="4571990" y="1836225"/>
            <a:ext cx="301500" cy="301500"/>
          </a:xfrm>
          <a:prstGeom prst="ellipse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35575" lIns="16750" spcFirstLastPara="1" rIns="16750" wrap="square" tIns="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2aa6f7c6e86_0_182"/>
          <p:cNvSpPr/>
          <p:nvPr/>
        </p:nvSpPr>
        <p:spPr>
          <a:xfrm>
            <a:off x="5085792" y="2887530"/>
            <a:ext cx="3657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Managing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picaresque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weighing validation: iaCarry addresses picaresque by validating the weighing of products, detecting potential irregularities and providing alerts to maintain the integrity of the purchasing process.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aa6f7c6e86_0_182"/>
          <p:cNvSpPr/>
          <p:nvPr/>
        </p:nvSpPr>
        <p:spPr>
          <a:xfrm>
            <a:off x="4576415" y="2866780"/>
            <a:ext cx="301500" cy="301500"/>
          </a:xfrm>
          <a:prstGeom prst="ellipse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35575" lIns="16750" spcFirstLastPara="1" rIns="16750" wrap="square" tIns="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2aa6f7c6e86_0_182"/>
          <p:cNvSpPr/>
          <p:nvPr/>
        </p:nvSpPr>
        <p:spPr>
          <a:xfrm>
            <a:off x="5081367" y="3920883"/>
            <a:ext cx="3657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Bulk product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simply with the camera: iaCarry's powerful camera facilitates bulk product management, enabling accurate identification and validation without the need for additional weighing, improving the user experience.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2aa6f7c6e86_0_182"/>
          <p:cNvSpPr/>
          <p:nvPr/>
        </p:nvSpPr>
        <p:spPr>
          <a:xfrm>
            <a:off x="4571990" y="3900133"/>
            <a:ext cx="301500" cy="301500"/>
          </a:xfrm>
          <a:prstGeom prst="ellipse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35575" lIns="16750" spcFirstLastPara="1" rIns="16750" wrap="square" tIns="355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9e4cc8fca_0_71"/>
          <p:cNvSpPr/>
          <p:nvPr/>
        </p:nvSpPr>
        <p:spPr>
          <a:xfrm>
            <a:off x="8544422" y="2573453"/>
            <a:ext cx="238200" cy="238200"/>
          </a:xfrm>
          <a:prstGeom prst="roundRect">
            <a:avLst>
              <a:gd fmla="val -384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a9e4cc8fca_0_71"/>
          <p:cNvSpPr/>
          <p:nvPr/>
        </p:nvSpPr>
        <p:spPr>
          <a:xfrm>
            <a:off x="-515474" y="2888494"/>
            <a:ext cx="714300" cy="714300"/>
          </a:xfrm>
          <a:prstGeom prst="roundRect">
            <a:avLst>
              <a:gd fmla="val -128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2a9e4cc8fca_0_71"/>
          <p:cNvSpPr/>
          <p:nvPr/>
        </p:nvSpPr>
        <p:spPr>
          <a:xfrm>
            <a:off x="477225" y="476250"/>
            <a:ext cx="3449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The current market</a:t>
            </a:r>
            <a:endParaRPr b="0" i="0" sz="2400" u="none" cap="none" strike="noStrike">
              <a:solidFill>
                <a:schemeClr val="dk1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  <p:sp>
        <p:nvSpPr>
          <p:cNvPr id="159" name="Google Shape;159;g2a9e4cc8fca_0_71"/>
          <p:cNvSpPr/>
          <p:nvPr/>
        </p:nvSpPr>
        <p:spPr>
          <a:xfrm>
            <a:off x="4044800" y="191547"/>
            <a:ext cx="4572000" cy="20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23,572 supermarkets in Spain, all of which require barcode scanning.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Europe the figure rises to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234,000 establishments,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which need a cash register.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2a9e4cc8fca_0_71"/>
          <p:cNvSpPr/>
          <p:nvPr/>
        </p:nvSpPr>
        <p:spPr>
          <a:xfrm>
            <a:off x="198837" y="2650309"/>
            <a:ext cx="238200" cy="238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2a9e4cc8fca_0_71" title="Points scor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1926" y="1837925"/>
            <a:ext cx="5560149" cy="330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2a9e4cc8fca_0_71"/>
          <p:cNvSpPr/>
          <p:nvPr/>
        </p:nvSpPr>
        <p:spPr>
          <a:xfrm>
            <a:off x="8306384" y="4713152"/>
            <a:ext cx="714300" cy="7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a6f7c6e86_0_214"/>
          <p:cNvSpPr/>
          <p:nvPr/>
        </p:nvSpPr>
        <p:spPr>
          <a:xfrm>
            <a:off x="5672799" y="-566488"/>
            <a:ext cx="1031700" cy="1031700"/>
          </a:xfrm>
          <a:prstGeom prst="roundRect">
            <a:avLst>
              <a:gd fmla="val -8864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2aa6f7c6e86_0_214"/>
          <p:cNvSpPr/>
          <p:nvPr/>
        </p:nvSpPr>
        <p:spPr>
          <a:xfrm>
            <a:off x="3381293" y="4773901"/>
            <a:ext cx="1190700" cy="119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2aa6f7c6e86_0_214"/>
          <p:cNvSpPr/>
          <p:nvPr/>
        </p:nvSpPr>
        <p:spPr>
          <a:xfrm>
            <a:off x="457199" y="208225"/>
            <a:ext cx="4114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The competitors</a:t>
            </a:r>
            <a:endParaRPr b="0" i="0" sz="2400" u="none" cap="none" strike="noStrike">
              <a:solidFill>
                <a:schemeClr val="dk1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  <p:sp>
        <p:nvSpPr>
          <p:cNvPr id="171" name="Google Shape;171;g2aa6f7c6e86_0_214"/>
          <p:cNvSpPr/>
          <p:nvPr/>
        </p:nvSpPr>
        <p:spPr>
          <a:xfrm>
            <a:off x="457200" y="1499400"/>
            <a:ext cx="39852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2000€ per trolley unit.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cameras inside the trolley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Installation of charging points for the trolleys.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Installation of high capacity wifi network.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trolley is a computer to maintain.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Expensive implementation.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Demo: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https://www.youtube.com/watch?v=kS9gWH5fypY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g2aa6f7c6e86_0_214"/>
          <p:cNvSpPr/>
          <p:nvPr/>
        </p:nvSpPr>
        <p:spPr>
          <a:xfrm>
            <a:off x="5434606" y="-11"/>
            <a:ext cx="238200" cy="23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2aa6f7c6e86_0_214"/>
          <p:cNvSpPr/>
          <p:nvPr/>
        </p:nvSpPr>
        <p:spPr>
          <a:xfrm>
            <a:off x="143785" y="4213569"/>
            <a:ext cx="317700" cy="317700"/>
          </a:xfrm>
          <a:prstGeom prst="roundRect">
            <a:avLst>
              <a:gd fmla="val -2877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2aa6f7c6e86_0_214"/>
          <p:cNvPicPr preferRelativeResize="0"/>
          <p:nvPr/>
        </p:nvPicPr>
        <p:blipFill rotWithShape="1">
          <a:blip r:embed="rId4">
            <a:alphaModFix/>
          </a:blip>
          <a:srcRect b="16505" l="0" r="0" t="14864"/>
          <a:stretch/>
        </p:blipFill>
        <p:spPr>
          <a:xfrm>
            <a:off x="907175" y="685538"/>
            <a:ext cx="1067850" cy="73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aa6f7c6e86_0_214"/>
          <p:cNvPicPr preferRelativeResize="0"/>
          <p:nvPr/>
        </p:nvPicPr>
        <p:blipFill rotWithShape="1">
          <a:blip r:embed="rId5">
            <a:alphaModFix/>
          </a:blip>
          <a:srcRect b="30527" l="0" r="0" t="37424"/>
          <a:stretch/>
        </p:blipFill>
        <p:spPr>
          <a:xfrm>
            <a:off x="4820150" y="538575"/>
            <a:ext cx="1828800" cy="586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2aa6f7c6e86_0_214"/>
          <p:cNvPicPr preferRelativeResize="0"/>
          <p:nvPr/>
        </p:nvPicPr>
        <p:blipFill rotWithShape="1">
          <a:blip r:embed="rId6">
            <a:alphaModFix/>
          </a:blip>
          <a:srcRect b="39" l="11394" r="13394" t="20049"/>
          <a:stretch/>
        </p:blipFill>
        <p:spPr>
          <a:xfrm>
            <a:off x="6704500" y="465200"/>
            <a:ext cx="2178187" cy="63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2aa6f7c6e86_0_214"/>
          <p:cNvPicPr preferRelativeResize="0"/>
          <p:nvPr/>
        </p:nvPicPr>
        <p:blipFill rotWithShape="1">
          <a:blip r:embed="rId7">
            <a:alphaModFix/>
          </a:blip>
          <a:srcRect b="49" l="11943" r="19958" t="49"/>
          <a:stretch/>
        </p:blipFill>
        <p:spPr>
          <a:xfrm>
            <a:off x="1436500" y="3276600"/>
            <a:ext cx="2026600" cy="167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2aa6f7c6e86_0_214"/>
          <p:cNvSpPr txBox="1"/>
          <p:nvPr/>
        </p:nvSpPr>
        <p:spPr>
          <a:xfrm>
            <a:off x="2010925" y="1076450"/>
            <a:ext cx="1628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Haifa Israel 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2aa6f7c6e86_0_214"/>
          <p:cNvSpPr/>
          <p:nvPr/>
        </p:nvSpPr>
        <p:spPr>
          <a:xfrm>
            <a:off x="4572000" y="3074975"/>
            <a:ext cx="45720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Carrefour and amazon, same concept, take and go.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square metre requires one camera.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requires a huge computer capacity for processing.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 scalability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needs to redo entire shops.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Still needs the trolley. </a:t>
            </a:r>
            <a:r>
              <a:rPr b="0" i="0" lang="en-US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licensable, exclusive</a:t>
            </a:r>
            <a:endParaRPr b="0" i="0" sz="1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Bad picaresque management, no post-purchase validation.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Demo: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https://www.youtube.com/watch?v=NrmMk1Myrxc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80" name="Google Shape;180;g2aa6f7c6e86_0_2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68150" y="1100774"/>
            <a:ext cx="2919825" cy="189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a6f7c6e86_0_304"/>
          <p:cNvSpPr/>
          <p:nvPr/>
        </p:nvSpPr>
        <p:spPr>
          <a:xfrm>
            <a:off x="7134493" y="-396105"/>
            <a:ext cx="714300" cy="714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g2aa6f7c6e86_0_304"/>
          <p:cNvCxnSpPr/>
          <p:nvPr/>
        </p:nvCxnSpPr>
        <p:spPr>
          <a:xfrm>
            <a:off x="1442929" y="2890471"/>
            <a:ext cx="6234000" cy="0"/>
          </a:xfrm>
          <a:prstGeom prst="straightConnector1">
            <a:avLst/>
          </a:prstGeom>
          <a:solidFill>
            <a:srgbClr val="3F9AF7"/>
          </a:solidFill>
          <a:ln cap="flat" cmpd="sng" w="15875">
            <a:solidFill>
              <a:srgbClr val="FFD45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g2aa6f7c6e86_0_304"/>
          <p:cNvSpPr/>
          <p:nvPr/>
        </p:nvSpPr>
        <p:spPr>
          <a:xfrm>
            <a:off x="5652427" y="2859347"/>
            <a:ext cx="57300" cy="57300"/>
          </a:xfrm>
          <a:prstGeom prst="ellipse">
            <a:avLst/>
          </a:prstGeom>
          <a:solidFill>
            <a:srgbClr val="FFD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2aa6f7c6e86_0_304"/>
          <p:cNvSpPr/>
          <p:nvPr/>
        </p:nvSpPr>
        <p:spPr>
          <a:xfrm>
            <a:off x="2666592" y="3331207"/>
            <a:ext cx="18288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Presentation of iaCarry-Station and iaCarry kernel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Presentation of the other product iaRecycle.tuisku.eu 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2aa6f7c6e86_0_304"/>
          <p:cNvSpPr/>
          <p:nvPr/>
        </p:nvSpPr>
        <p:spPr>
          <a:xfrm>
            <a:off x="7003402" y="3328999"/>
            <a:ext cx="18288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Full launch of the first 10 stations in operation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Strong expansion of employees 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2aa6f7c6e86_0_304"/>
          <p:cNvSpPr/>
          <p:nvPr/>
        </p:nvSpPr>
        <p:spPr>
          <a:xfrm>
            <a:off x="7650622" y="2855265"/>
            <a:ext cx="57300" cy="57300"/>
          </a:xfrm>
          <a:prstGeom prst="ellipse">
            <a:avLst/>
          </a:prstGeom>
          <a:solidFill>
            <a:srgbClr val="FFD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2aa6f7c6e86_0_304"/>
          <p:cNvSpPr/>
          <p:nvPr/>
        </p:nvSpPr>
        <p:spPr>
          <a:xfrm>
            <a:off x="3447643" y="2859101"/>
            <a:ext cx="57300" cy="57300"/>
          </a:xfrm>
          <a:prstGeom prst="ellipse">
            <a:avLst/>
          </a:prstGeom>
          <a:solidFill>
            <a:srgbClr val="FFD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2aa6f7c6e86_0_304"/>
          <p:cNvSpPr/>
          <p:nvPr/>
        </p:nvSpPr>
        <p:spPr>
          <a:xfrm>
            <a:off x="1405178" y="2858787"/>
            <a:ext cx="57300" cy="57300"/>
          </a:xfrm>
          <a:prstGeom prst="ellipse">
            <a:avLst/>
          </a:prstGeom>
          <a:solidFill>
            <a:srgbClr val="FFD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2aa6f7c6e86_0_304"/>
          <p:cNvSpPr/>
          <p:nvPr/>
        </p:nvSpPr>
        <p:spPr>
          <a:xfrm>
            <a:off x="598704" y="1880117"/>
            <a:ext cx="18288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Foundation of tuisku.eu for the creation of iaCarry</a:t>
            </a:r>
            <a:r>
              <a:rPr b="1" i="0" lang="en-US" sz="1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.tuisku.eu 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5" name="Google Shape;195;g2aa6f7c6e86_0_304"/>
          <p:cNvSpPr/>
          <p:nvPr/>
        </p:nvSpPr>
        <p:spPr>
          <a:xfrm>
            <a:off x="4872199" y="1879875"/>
            <a:ext cx="22623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First test runs and installations at end-customers 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iaRecycle, taking advantage of iaCarry kernel 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6" name="Google Shape;196;g2aa6f7c6e86_0_304"/>
          <p:cNvSpPr/>
          <p:nvPr/>
        </p:nvSpPr>
        <p:spPr>
          <a:xfrm>
            <a:off x="2402099" y="1430278"/>
            <a:ext cx="238200" cy="238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2aa6f7c6e86_0_304"/>
          <p:cNvSpPr/>
          <p:nvPr/>
        </p:nvSpPr>
        <p:spPr>
          <a:xfrm>
            <a:off x="598642" y="1699376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OTC 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2aa6f7c6e86_0_304"/>
          <p:cNvSpPr/>
          <p:nvPr/>
        </p:nvSpPr>
        <p:spPr>
          <a:xfrm>
            <a:off x="2664899" y="3105692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DIC 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2aa6f7c6e86_0_304"/>
          <p:cNvSpPr/>
          <p:nvPr/>
        </p:nvSpPr>
        <p:spPr>
          <a:xfrm>
            <a:off x="4872183" y="1700472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FEB 2024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2aa6f7c6e86_0_304"/>
          <p:cNvSpPr/>
          <p:nvPr/>
        </p:nvSpPr>
        <p:spPr>
          <a:xfrm>
            <a:off x="7002710" y="3105431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JUN </a:t>
            </a:r>
            <a:r>
              <a:rPr b="1" i="0" lang="en-US" sz="8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-US" sz="12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2024</a:t>
            </a:r>
            <a:endParaRPr b="1" i="0" sz="800" u="none" cap="none" strike="noStrike">
              <a:solidFill>
                <a:srgbClr val="7B819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7B819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7B819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1" name="Google Shape;201;g2aa6f7c6e86_0_304"/>
          <p:cNvSpPr/>
          <p:nvPr/>
        </p:nvSpPr>
        <p:spPr>
          <a:xfrm>
            <a:off x="7557096" y="319219"/>
            <a:ext cx="238200" cy="238200"/>
          </a:xfrm>
          <a:prstGeom prst="roundRect">
            <a:avLst>
              <a:gd fmla="val -384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2aa6f7c6e86_0_304"/>
          <p:cNvSpPr/>
          <p:nvPr/>
        </p:nvSpPr>
        <p:spPr>
          <a:xfrm>
            <a:off x="598638" y="558449"/>
            <a:ext cx="8229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Milestones </a:t>
            </a:r>
            <a:endParaRPr b="0" i="0" sz="2400" u="none" cap="none" strike="noStrike">
              <a:solidFill>
                <a:schemeClr val="dk1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  <p:sp>
        <p:nvSpPr>
          <p:cNvPr id="203" name="Google Shape;203;g2aa6f7c6e86_0_304"/>
          <p:cNvSpPr/>
          <p:nvPr/>
        </p:nvSpPr>
        <p:spPr>
          <a:xfrm>
            <a:off x="8201668" y="4429359"/>
            <a:ext cx="238200" cy="238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2aa6f7c6e86_0_304"/>
          <p:cNvSpPr/>
          <p:nvPr/>
        </p:nvSpPr>
        <p:spPr>
          <a:xfrm>
            <a:off x="5157115" y="4667558"/>
            <a:ext cx="1047900" cy="1047900"/>
          </a:xfrm>
          <a:prstGeom prst="roundRect">
            <a:avLst>
              <a:gd fmla="val -8727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2aa6f7c6e86_0_237"/>
          <p:cNvPicPr preferRelativeResize="0"/>
          <p:nvPr/>
        </p:nvPicPr>
        <p:blipFill rotWithShape="1">
          <a:blip r:embed="rId3">
            <a:alphaModFix/>
          </a:blip>
          <a:srcRect b="0" l="35455" r="5420" t="26432"/>
          <a:stretch/>
        </p:blipFill>
        <p:spPr>
          <a:xfrm>
            <a:off x="615250" y="2124150"/>
            <a:ext cx="3956750" cy="27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2aa6f7c6e86_0_237"/>
          <p:cNvSpPr/>
          <p:nvPr/>
        </p:nvSpPr>
        <p:spPr>
          <a:xfrm>
            <a:off x="7244091" y="4294131"/>
            <a:ext cx="476400" cy="476400"/>
          </a:xfrm>
          <a:prstGeom prst="roundRect">
            <a:avLst>
              <a:gd fmla="val -192000" name="adj"/>
            </a:avLst>
          </a:prstGeom>
          <a:solidFill>
            <a:srgbClr val="103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2aa6f7c6e86_0_237"/>
          <p:cNvSpPr/>
          <p:nvPr/>
        </p:nvSpPr>
        <p:spPr>
          <a:xfrm>
            <a:off x="476317" y="4667086"/>
            <a:ext cx="952500" cy="9525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2aa6f7c6e86_0_237"/>
          <p:cNvSpPr/>
          <p:nvPr/>
        </p:nvSpPr>
        <p:spPr>
          <a:xfrm>
            <a:off x="8290675" y="2605150"/>
            <a:ext cx="476400" cy="476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2aa6f7c6e86_0_237"/>
          <p:cNvSpPr/>
          <p:nvPr/>
        </p:nvSpPr>
        <p:spPr>
          <a:xfrm>
            <a:off x="2966139" y="1735877"/>
            <a:ext cx="238200" cy="238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2aa6f7c6e86_0_237"/>
          <p:cNvSpPr/>
          <p:nvPr/>
        </p:nvSpPr>
        <p:spPr>
          <a:xfrm>
            <a:off x="4677258" y="476497"/>
            <a:ext cx="45720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you have 10 iaCarry-Stations up and running without errors, </a:t>
            </a: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scalability is global.</a:t>
            </a:r>
            <a:b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shops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(supermarkets, clothing, technology, etc.) and for </a:t>
            </a: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countries.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16" name="Google Shape;216;g2aa6f7c6e86_0_237"/>
          <p:cNvPicPr preferRelativeResize="0"/>
          <p:nvPr/>
        </p:nvPicPr>
        <p:blipFill rotWithShape="1">
          <a:blip r:embed="rId4">
            <a:alphaModFix/>
          </a:blip>
          <a:srcRect b="0" l="903" r="913" t="0"/>
          <a:stretch/>
        </p:blipFill>
        <p:spPr>
          <a:xfrm>
            <a:off x="7716494" y="3081546"/>
            <a:ext cx="1192544" cy="121457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2aa6f7c6e86_0_237"/>
          <p:cNvSpPr/>
          <p:nvPr/>
        </p:nvSpPr>
        <p:spPr>
          <a:xfrm>
            <a:off x="476324" y="476500"/>
            <a:ext cx="4095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Scalability</a:t>
            </a:r>
            <a:endParaRPr b="0" i="0" sz="2400" u="none" cap="none" strike="noStrike">
              <a:solidFill>
                <a:schemeClr val="dk1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a6f7c6e86_0_81"/>
          <p:cNvSpPr/>
          <p:nvPr/>
        </p:nvSpPr>
        <p:spPr>
          <a:xfrm>
            <a:off x="3381294" y="448008"/>
            <a:ext cx="1190700" cy="1190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g2aa6f7c6e86_0_81"/>
          <p:cNvPicPr preferRelativeResize="0"/>
          <p:nvPr/>
        </p:nvPicPr>
        <p:blipFill rotWithShape="1">
          <a:blip r:embed="rId3">
            <a:alphaModFix/>
          </a:blip>
          <a:srcRect b="0" l="14013" r="14012" t="0"/>
          <a:stretch/>
        </p:blipFill>
        <p:spPr>
          <a:xfrm>
            <a:off x="236025" y="239125"/>
            <a:ext cx="3839875" cy="466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2aa6f7c6e86_0_81"/>
          <p:cNvSpPr/>
          <p:nvPr/>
        </p:nvSpPr>
        <p:spPr>
          <a:xfrm>
            <a:off x="474012" y="4416501"/>
            <a:ext cx="606000" cy="60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2aa6f7c6e86_0_81"/>
          <p:cNvSpPr/>
          <p:nvPr/>
        </p:nvSpPr>
        <p:spPr>
          <a:xfrm>
            <a:off x="-77074" y="3540665"/>
            <a:ext cx="874200" cy="874200"/>
          </a:xfrm>
          <a:prstGeom prst="roundRect">
            <a:avLst>
              <a:gd fmla="val -10458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2aa6f7c6e86_0_81"/>
          <p:cNvSpPr/>
          <p:nvPr/>
        </p:nvSpPr>
        <p:spPr>
          <a:xfrm>
            <a:off x="4645900" y="288675"/>
            <a:ext cx="42750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Business Scalability  </a:t>
            </a:r>
            <a:endParaRPr b="1" i="0" sz="2400" u="none" cap="none" strike="noStrike">
              <a:solidFill>
                <a:srgbClr val="000000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Clothing or furniture shops</a:t>
            </a:r>
            <a:endParaRPr b="1" i="0" sz="2200" u="none" cap="none" strike="noStrike">
              <a:solidFill>
                <a:srgbClr val="000000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  <p:sp>
        <p:nvSpPr>
          <p:cNvPr id="228" name="Google Shape;228;g2aa6f7c6e86_0_81"/>
          <p:cNvSpPr/>
          <p:nvPr/>
        </p:nvSpPr>
        <p:spPr>
          <a:xfrm>
            <a:off x="4645900" y="1198800"/>
            <a:ext cx="4044300" cy="36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iaCarry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clothing or furniture stores involves customizing the technology to address the specific characteristics of these sectors, providing customers with a more efficient and personalized purchasing.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Labeling System: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QR smart labels on clothing or furniture with barcodes or unique identifiers to facilitate identification by iaCarry.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Specialized Cameras: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Incorporate specialized cameras for recognition of clothing items, considering details such as colors, sizes and styles. QR label implementation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a6f7c6e86_0_350"/>
          <p:cNvSpPr/>
          <p:nvPr/>
        </p:nvSpPr>
        <p:spPr>
          <a:xfrm>
            <a:off x="5668565" y="644131"/>
            <a:ext cx="952500" cy="95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2aa6f7c6e86_0_350"/>
          <p:cNvPicPr preferRelativeResize="0"/>
          <p:nvPr/>
        </p:nvPicPr>
        <p:blipFill rotWithShape="1">
          <a:blip r:embed="rId3">
            <a:alphaModFix/>
          </a:blip>
          <a:srcRect b="0" l="14852" r="14853" t="0"/>
          <a:stretch/>
        </p:blipFill>
        <p:spPr>
          <a:xfrm>
            <a:off x="6076912" y="237456"/>
            <a:ext cx="2827283" cy="466705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2aa6f7c6e86_0_350"/>
          <p:cNvSpPr/>
          <p:nvPr/>
        </p:nvSpPr>
        <p:spPr>
          <a:xfrm>
            <a:off x="667950" y="1202413"/>
            <a:ext cx="5000700" cy="17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iaCarry kernel is powerful, scalable and implementable in other products.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it tuisku.eu, presents: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iaRecycle automatic recycling with AI </a:t>
            </a:r>
            <a:b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https://iarecycle.tuisku.eu/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2aa6f7c6e86_0_350"/>
          <p:cNvSpPr/>
          <p:nvPr/>
        </p:nvSpPr>
        <p:spPr>
          <a:xfrm>
            <a:off x="6434100" y="4670246"/>
            <a:ext cx="476400" cy="476400"/>
          </a:xfrm>
          <a:prstGeom prst="roundRect">
            <a:avLst>
              <a:gd fmla="val -192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aa6f7c6e86_0_350"/>
          <p:cNvSpPr/>
          <p:nvPr/>
        </p:nvSpPr>
        <p:spPr>
          <a:xfrm>
            <a:off x="7956723" y="-716409"/>
            <a:ext cx="1190700" cy="1190700"/>
          </a:xfrm>
          <a:prstGeom prst="roundRect">
            <a:avLst>
              <a:gd fmla="val -768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2aa6f7c6e86_0_350"/>
          <p:cNvSpPr/>
          <p:nvPr/>
        </p:nvSpPr>
        <p:spPr>
          <a:xfrm>
            <a:off x="7849719" y="474806"/>
            <a:ext cx="238200" cy="238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g2aa6f7c6e86_0_350"/>
          <p:cNvPicPr preferRelativeResize="0"/>
          <p:nvPr/>
        </p:nvPicPr>
        <p:blipFill rotWithShape="1">
          <a:blip r:embed="rId5">
            <a:alphaModFix/>
          </a:blip>
          <a:srcRect b="1689" l="0" r="0" t="1681"/>
          <a:stretch/>
        </p:blipFill>
        <p:spPr>
          <a:xfrm>
            <a:off x="714463" y="2961202"/>
            <a:ext cx="1539123" cy="148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2aa6f7c6e86_0_350"/>
          <p:cNvSpPr txBox="1"/>
          <p:nvPr/>
        </p:nvSpPr>
        <p:spPr>
          <a:xfrm>
            <a:off x="2292438" y="3053388"/>
            <a:ext cx="3329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iaRecycle</a:t>
            </a:r>
            <a:br>
              <a:rPr b="0" i="0" lang="en-US" sz="4500" u="none" cap="none" strike="noStrik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b="0" i="0" lang="en-US" sz="19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zero-waste technologies</a:t>
            </a:r>
            <a:endParaRPr b="0" i="0" sz="2300" u="none" cap="none" strike="noStrike">
              <a:solidFill>
                <a:srgbClr val="000000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  <p:sp>
        <p:nvSpPr>
          <p:cNvPr id="242" name="Google Shape;242;g2aa6f7c6e86_0_350"/>
          <p:cNvSpPr/>
          <p:nvPr/>
        </p:nvSpPr>
        <p:spPr>
          <a:xfrm>
            <a:off x="-284700" y="3724825"/>
            <a:ext cx="709800" cy="7356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aa6f7c6e86_0_350"/>
          <p:cNvSpPr/>
          <p:nvPr/>
        </p:nvSpPr>
        <p:spPr>
          <a:xfrm>
            <a:off x="476399" y="713000"/>
            <a:ext cx="4095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Kernel scalability  </a:t>
            </a:r>
            <a:endParaRPr b="1" i="0" sz="2400" u="none" cap="none" strike="noStrike">
              <a:solidFill>
                <a:srgbClr val="000000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a6f7c6e86_0_370"/>
          <p:cNvSpPr/>
          <p:nvPr/>
        </p:nvSpPr>
        <p:spPr>
          <a:xfrm>
            <a:off x="8855998" y="4010422"/>
            <a:ext cx="952500" cy="952500"/>
          </a:xfrm>
          <a:prstGeom prst="ellipse">
            <a:avLst/>
          </a:prstGeom>
          <a:solidFill>
            <a:srgbClr val="103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2aa6f7c6e86_0_370"/>
          <p:cNvSpPr/>
          <p:nvPr/>
        </p:nvSpPr>
        <p:spPr>
          <a:xfrm>
            <a:off x="-375404" y="3766142"/>
            <a:ext cx="714300" cy="714300"/>
          </a:xfrm>
          <a:prstGeom prst="roundRect">
            <a:avLst>
              <a:gd fmla="val -128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g2aa6f7c6e86_0_370"/>
          <p:cNvPicPr preferRelativeResize="0"/>
          <p:nvPr/>
        </p:nvPicPr>
        <p:blipFill rotWithShape="1">
          <a:blip r:embed="rId3">
            <a:alphaModFix/>
          </a:blip>
          <a:srcRect b="1446" l="0" r="0" t="1446"/>
          <a:stretch/>
        </p:blipFill>
        <p:spPr>
          <a:xfrm>
            <a:off x="338900" y="1884050"/>
            <a:ext cx="4524124" cy="29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2aa6f7c6e86_0_370"/>
          <p:cNvSpPr/>
          <p:nvPr/>
        </p:nvSpPr>
        <p:spPr>
          <a:xfrm>
            <a:off x="3596100" y="1542100"/>
            <a:ext cx="330600" cy="342000"/>
          </a:xfrm>
          <a:prstGeom prst="roundRect">
            <a:avLst>
              <a:gd fmla="val -192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2aa6f7c6e86_0_370"/>
          <p:cNvSpPr/>
          <p:nvPr/>
        </p:nvSpPr>
        <p:spPr>
          <a:xfrm>
            <a:off x="5662942" y="4812892"/>
            <a:ext cx="476400" cy="47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2aa6f7c6e86_0_370"/>
          <p:cNvSpPr/>
          <p:nvPr/>
        </p:nvSpPr>
        <p:spPr>
          <a:xfrm>
            <a:off x="252020" y="873270"/>
            <a:ext cx="238200" cy="23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2aa6f7c6e86_0_370"/>
          <p:cNvSpPr/>
          <p:nvPr/>
        </p:nvSpPr>
        <p:spPr>
          <a:xfrm>
            <a:off x="4863025" y="476500"/>
            <a:ext cx="43863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needs of iaCarry.tuisku.eu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Renting of calculation servers for the resolution of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 of 2 persons in the development department (implementations with more customers, development of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iaRecycle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person in quality, for our management of the preventive maintenance of the vital bug, </a:t>
            </a: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basic bugs there is no scalability of the code.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policy of expansion of national (2 people) and foreign (5 people) commercials.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6" name="Google Shape;256;g2aa6f7c6e86_0_370"/>
          <p:cNvSpPr/>
          <p:nvPr/>
        </p:nvSpPr>
        <p:spPr>
          <a:xfrm>
            <a:off x="490213" y="476491"/>
            <a:ext cx="4572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The Investment </a:t>
            </a:r>
            <a:endParaRPr b="0" i="0" sz="2400" u="none" cap="none" strike="noStrike">
              <a:solidFill>
                <a:schemeClr val="dk1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/>
          <p:nvPr/>
        </p:nvSpPr>
        <p:spPr>
          <a:xfrm>
            <a:off x="6835505" y="4543459"/>
            <a:ext cx="1190700" cy="1190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8273079" y="1186302"/>
            <a:ext cx="874288" cy="874288"/>
          </a:xfrm>
          <a:prstGeom prst="roundRect">
            <a:avLst>
              <a:gd fmla="val -104588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457211" y="1320430"/>
            <a:ext cx="606000" cy="606000"/>
          </a:xfrm>
          <a:prstGeom prst="ellipse">
            <a:avLst/>
          </a:prstGeom>
          <a:solidFill>
            <a:srgbClr val="046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1608100" y="342150"/>
            <a:ext cx="6215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Questions? Let’s get talking.</a:t>
            </a:r>
            <a:b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</a:br>
            <a:r>
              <a:rPr b="1" i="0" lang="en-US" sz="24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Know More:</a:t>
            </a:r>
            <a:br>
              <a:rPr b="1" i="0" lang="en-US" sz="24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0" lang="en-US" sz="1300" u="sng" cap="none" strike="noStrike">
                <a:solidFill>
                  <a:schemeClr val="hlink"/>
                </a:solidFill>
                <a:latin typeface="Noto Sans Bengali"/>
                <a:ea typeface="Noto Sans Bengali"/>
                <a:cs typeface="Noto Sans Bengali"/>
                <a:sym typeface="Noto Sans Bengali"/>
                <a:hlinkClick r:id="rId3"/>
              </a:rPr>
              <a:t>https://tuisku.eu/</a:t>
            </a:r>
            <a:br>
              <a:rPr b="1" i="0" lang="en-US" sz="13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</a:br>
            <a:r>
              <a:rPr b="1" i="0" lang="en-US" sz="1300" u="sng" cap="none" strike="noStrike">
                <a:solidFill>
                  <a:schemeClr val="hlink"/>
                </a:solidFill>
                <a:latin typeface="Noto Sans Bengali"/>
                <a:ea typeface="Noto Sans Bengali"/>
                <a:cs typeface="Noto Sans Bengali"/>
                <a:sym typeface="Noto Sans Bengali"/>
                <a:hlinkClick r:id="rId4"/>
              </a:rPr>
              <a:t>https://iacarry.tuisku.eu/</a:t>
            </a:r>
            <a:r>
              <a:rPr b="1" i="0" lang="en-US" sz="13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  <a:t> </a:t>
            </a:r>
            <a:br>
              <a:rPr b="1" i="0" lang="en-US" sz="1300" u="none" cap="none" strike="noStrike">
                <a:solidFill>
                  <a:srgbClr val="000000"/>
                </a:solidFill>
                <a:latin typeface="Noto Sans Bengali"/>
                <a:ea typeface="Noto Sans Bengali"/>
                <a:cs typeface="Noto Sans Bengali"/>
                <a:sym typeface="Noto Sans Bengali"/>
              </a:rPr>
            </a:br>
            <a:r>
              <a:rPr b="1" i="0" lang="en-US" sz="1300" u="sng" cap="none" strike="noStrike">
                <a:solidFill>
                  <a:schemeClr val="hlink"/>
                </a:solidFill>
                <a:latin typeface="Noto Sans Bengali"/>
                <a:ea typeface="Noto Sans Bengali"/>
                <a:cs typeface="Noto Sans Bengali"/>
                <a:sym typeface="Noto Sans Bengali"/>
                <a:hlinkClick r:id="rId5"/>
              </a:rPr>
              <a:t>https://iarecycle.tuisku.eu/</a:t>
            </a:r>
            <a:endParaRPr b="0" i="0" sz="2200" u="none" cap="none" strike="noStrike">
              <a:solidFill>
                <a:schemeClr val="dk1"/>
              </a:solidFill>
              <a:latin typeface="Noto Sans Bengali"/>
              <a:ea typeface="Noto Sans Bengali"/>
              <a:cs typeface="Noto Sans Bengali"/>
              <a:sym typeface="Noto Sans Bengal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1075440" y="2473921"/>
            <a:ext cx="182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info​@tuisku.eu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sales​@tuisku.eu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l.castillo@tuisku.eu  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6516439" y="2474046"/>
            <a:ext cx="182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+34653288969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3800882" y="2473909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Bilbao ​Spain Calle la Fanderia, 2, 48901 Barakaldo, Biscay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1075021" y="2267355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E-MAIL</a:t>
            </a:r>
            <a:endParaRPr b="1" i="0" sz="1100" u="none" cap="none" strike="noStrike">
              <a:solidFill>
                <a:srgbClr val="7B819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3801410" y="2267355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ADDRESS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6518797" y="2267585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PHONE</a:t>
            </a:r>
            <a:endParaRPr b="1" i="0" sz="1100" u="none" cap="none" strike="noStrike">
              <a:solidFill>
                <a:srgbClr val="7B819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1255819" y="3720512"/>
            <a:ext cx="238200" cy="238200"/>
          </a:xfrm>
          <a:prstGeom prst="roundRect">
            <a:avLst>
              <a:gd fmla="val -384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8151517" y="948264"/>
            <a:ext cx="238125" cy="2381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4188" y="3023887"/>
            <a:ext cx="1682201" cy="163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/>
          <p:nvPr/>
        </p:nvSpPr>
        <p:spPr>
          <a:xfrm>
            <a:off x="6865261" y="3739338"/>
            <a:ext cx="874200" cy="874200"/>
          </a:xfrm>
          <a:prstGeom prst="roundRect">
            <a:avLst>
              <a:gd fmla="val -104588" name="adj"/>
            </a:avLst>
          </a:prstGeom>
          <a:solidFill>
            <a:srgbClr val="3F9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8031571" y="3023398"/>
            <a:ext cx="952500" cy="952500"/>
          </a:xfrm>
          <a:prstGeom prst="ellipse">
            <a:avLst/>
          </a:prstGeom>
          <a:solidFill>
            <a:srgbClr val="92DD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7965067" y="2383165"/>
            <a:ext cx="238200" cy="238200"/>
          </a:xfrm>
          <a:prstGeom prst="roundRect">
            <a:avLst>
              <a:gd fmla="val -384000" name="adj"/>
            </a:avLst>
          </a:prstGeom>
          <a:solidFill>
            <a:srgbClr val="FF6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499005" y="2508684"/>
            <a:ext cx="8190600" cy="1885800"/>
          </a:xfrm>
          <a:prstGeom prst="roundRect">
            <a:avLst>
              <a:gd fmla="val -48487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25400">
              <a:srgbClr val="000000">
                <a:alpha val="941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6536838" y="2144257"/>
            <a:ext cx="476400" cy="476400"/>
          </a:xfrm>
          <a:prstGeom prst="ellipse">
            <a:avLst/>
          </a:prstGeom>
          <a:solidFill>
            <a:srgbClr val="FFD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501682" y="1308944"/>
            <a:ext cx="6400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Contact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384641" y="2861823"/>
            <a:ext cx="238200" cy="238200"/>
          </a:xfrm>
          <a:prstGeom prst="ellipse">
            <a:avLst/>
          </a:prstGeom>
          <a:solidFill>
            <a:srgbClr val="FFA8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1139490" y="3305796"/>
            <a:ext cx="182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info​@tuisku.eu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sales​@tuisku.eu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l.castillo@tuisku.eu  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6580490" y="3305921"/>
            <a:ext cx="182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+34653288969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3864932" y="3305784"/>
            <a:ext cx="182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Bilbao ​Spain Calle la Fanderia, 2, 48901 Barakaldo, Biscay</a:t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1139071" y="3099230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E-MAIL</a:t>
            </a:r>
            <a:endParaRPr b="1" i="0" sz="1100" u="none" cap="none" strike="noStrike">
              <a:solidFill>
                <a:srgbClr val="7B819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3865460" y="3099230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ADDRESS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6582847" y="3099460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B8193"/>
                </a:solidFill>
                <a:latin typeface="Manrope"/>
                <a:ea typeface="Manrope"/>
                <a:cs typeface="Manrope"/>
                <a:sym typeface="Manrope"/>
              </a:rPr>
              <a:t>PHONE</a:t>
            </a:r>
            <a:endParaRPr b="1" i="0" sz="1100" u="none" cap="none" strike="noStrike">
              <a:solidFill>
                <a:srgbClr val="7B819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3" name="Google Shape;2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9307" y="187100"/>
            <a:ext cx="1960043" cy="1960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edLegals">
  <a:themeElements>
    <a:clrScheme name="SeedLegals">
      <a:dk1>
        <a:srgbClr val="000000"/>
      </a:dk1>
      <a:lt1>
        <a:srgbClr val="1B46AF"/>
      </a:lt1>
      <a:dk2>
        <a:srgbClr val="75F5E8"/>
      </a:dk2>
      <a:lt2>
        <a:srgbClr val="000646"/>
      </a:lt2>
      <a:accent1>
        <a:srgbClr val="1B46AF"/>
      </a:accent1>
      <a:accent2>
        <a:srgbClr val="75F5E8"/>
      </a:accent2>
      <a:accent3>
        <a:srgbClr val="715FC8"/>
      </a:accent3>
      <a:accent4>
        <a:srgbClr val="05B44C"/>
      </a:accent4>
      <a:accent5>
        <a:srgbClr val="DFE43E"/>
      </a:accent5>
      <a:accent6>
        <a:srgbClr val="EE82EE"/>
      </a:accent6>
      <a:hlink>
        <a:srgbClr val="5195FF"/>
      </a:hlink>
      <a:folHlink>
        <a:srgbClr val="8588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2023-12-24T15:10:14Z</dcterms:created>
  <dc:creator>Pitch Software GmbH</dc:creator>
</cp:coreProperties>
</file>